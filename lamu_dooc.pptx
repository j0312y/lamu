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38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26" y="911944"/>
            <a:ext cx="167641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761926" y="457200"/>
            <a:ext cx="113258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VOL.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61208" y="457200"/>
            <a:ext cx="2271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55019" y="457200"/>
            <a:ext cx="188702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ÉDITION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69528" y="457200"/>
            <a:ext cx="203794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674169" y="457200"/>
            <a:ext cx="2271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167981" y="457200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PAS-À-PAS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17541" y="2193020"/>
            <a:ext cx="12821558" cy="4049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8975"/>
              </a:lnSpc>
              <a:buNone/>
            </a:pPr>
            <a:r>
              <a:rPr lang="en-US" sz="40000" i="1" kern="0" spc="-200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Lamu</a:t>
            </a:r>
            <a:r>
              <a:rPr lang="en-US" sz="40000" i="1" kern="0" spc="-200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0" dirty="0"/>
          </a:p>
        </p:txBody>
      </p:sp>
      <p:sp>
        <p:nvSpPr>
          <p:cNvPr id="10" name="Text 8"/>
          <p:cNvSpPr/>
          <p:nvPr/>
        </p:nvSpPr>
        <p:spPr>
          <a:xfrm>
            <a:off x="4952963" y="6509631"/>
            <a:ext cx="863342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COMPLET — DE A À 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36771" y="7173999"/>
            <a:ext cx="9614458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L'assistant IA de réunion en temps réel, expliqué pour les testeurs et les utilisateurs.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761926" y="9367912"/>
            <a:ext cx="167641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761926" y="9565481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/ 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11564" y="9565481"/>
            <a:ext cx="1431396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COUVERTURE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17069" y="9565481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9816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6533" y="609563"/>
            <a:ext cx="83075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ÉDITO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639008" y="609563"/>
            <a:ext cx="188702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AVANT-PROPOS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642951"/>
            <a:ext cx="660179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QUI S'ADRESSE CE GUIDE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163" y="2173932"/>
            <a:ext cx="6601792" cy="1793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parle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document.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38163" y="4196172"/>
            <a:ext cx="660179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testeurs qui valident chaque chemin, et aux utilisateurs qui prennent l'application en main pour la première fois. Aucune étape n'est sautée.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76283" y="2081064"/>
            <a:ext cx="9242646" cy="210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450" i="1" kern="0" spc="-17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Quarante-sept </a:t>
            </a:r>
            <a:r>
              <a:rPr lang="en-US" sz="3450" kern="0" spc="-17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sections, cinq parcours, un seul objectif : faire en sorte que personne — qu'il découvre l'app, l'installe, ou l'éprouve — ne reste devant un écran sans savoir </a:t>
            </a:r>
            <a:r>
              <a:rPr lang="en-US" sz="3450" i="1" kern="0" spc="-17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quoi cliquer</a:t>
            </a:r>
            <a:r>
              <a:rPr lang="en-US" sz="3450" kern="0" spc="-17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8476283" y="4891571"/>
            <a:ext cx="897344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8476283" y="5205785"/>
            <a:ext cx="44643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76283" y="5527253"/>
            <a:ext cx="4464389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Lamu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115367" y="5205785"/>
            <a:ext cx="44643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MISE À JOUR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15367" y="5527253"/>
            <a:ext cx="4464389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mai 2026 — v2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63" y="9413118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/ 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90088" y="9413118"/>
            <a:ext cx="141569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FRONT MATTER 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SOMMAIRE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9816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6533" y="609563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79091" y="609563"/>
            <a:ext cx="35748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PARTIES · 47 SECTIONS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528651"/>
            <a:ext cx="17110025" cy="806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0" i="1" kern="0" spc="-94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vous allez </a:t>
            </a:r>
            <a:r>
              <a:rPr lang="en-US" sz="6300" i="1" kern="0" spc="-94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trouver ici</a:t>
            </a:r>
            <a:r>
              <a:rPr lang="en-US" sz="6300" i="1" kern="0" spc="-94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838163" y="2601441"/>
            <a:ext cx="64770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14388" y="2601441"/>
            <a:ext cx="1451596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Installer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6112282" y="2601441"/>
            <a:ext cx="1413756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 — §05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163" y="3355777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Télécharger l'app, onboarding, fournisseur IA, transcription vocale, licence.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8163" y="3873922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63" y="4054859"/>
            <a:ext cx="64770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14388" y="4054859"/>
            <a:ext cx="1451596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Utiliser au quotidien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6112282" y="4054859"/>
            <a:ext cx="1413756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 — §18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163" y="4809195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L'overlay, le micro, le mode réunion, le coaching, le résumé, les modes d'assistant.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38163" y="5327340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63" y="5508278"/>
            <a:ext cx="64770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714388" y="5508278"/>
            <a:ext cx="1451596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Maîtriser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6112282" y="5508278"/>
            <a:ext cx="1413756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§19 — §37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163" y="6262613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connaissances, intégrations, SQL, email vocal, contacts, Interview Prep, CV, sessions.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8163" y="6780758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63" y="6961696"/>
            <a:ext cx="64770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714388" y="6961696"/>
            <a:ext cx="1451596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6112282" y="6961696"/>
            <a:ext cx="1413756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§38 — §43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163" y="7716031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Inscription, chat web, KB en ligne, Free Trial, paiement Mobile Money, récupération.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8163" y="8234176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38163" y="8415114"/>
            <a:ext cx="64770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714388" y="8415114"/>
            <a:ext cx="1451596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Admin, sécurité, support</a:t>
            </a:r>
            <a:endParaRPr lang="en-US" sz="4500" dirty="0"/>
          </a:p>
        </p:txBody>
      </p:sp>
      <p:sp>
        <p:nvSpPr>
          <p:cNvPr id="29" name="Text 27"/>
          <p:cNvSpPr/>
          <p:nvPr/>
        </p:nvSpPr>
        <p:spPr>
          <a:xfrm>
            <a:off x="16112282" y="8415114"/>
            <a:ext cx="1413756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§44 — §47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8163" y="9169450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admin, invisibilité écran, dépannage, raccourcis clavier complets.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838163" y="9516145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838163" y="9713714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/ 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28189" y="9928634"/>
            <a:ext cx="141569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SOMMAIRE 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40832" y="9713714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03 / 58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9816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653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PRÉREQUIS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 DE COMMENCER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90476"/>
            <a:ext cx="1711002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PRÉPARATION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163" y="188807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choses à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avoir sous la main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38163" y="3527785"/>
            <a:ext cx="5225834" cy="1104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838163" y="4765997"/>
            <a:ext cx="522583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machine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64808" y="5539308"/>
            <a:ext cx="5323180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macOS ou Linux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fonctionnel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internet pour l'IA cloud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254688" y="3527785"/>
            <a:ext cx="9525" cy="331816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6607076" y="3527785"/>
            <a:ext cx="5225949" cy="1104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0500" dirty="0"/>
          </a:p>
        </p:txBody>
      </p:sp>
      <p:sp>
        <p:nvSpPr>
          <p:cNvPr id="13" name="Text 11"/>
          <p:cNvSpPr/>
          <p:nvPr/>
        </p:nvSpPr>
        <p:spPr>
          <a:xfrm>
            <a:off x="6607076" y="4765997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clé API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6433721" y="5539308"/>
            <a:ext cx="5323292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Anthropic, Google…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Ollama (local, gratuit)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STT : Whisper, Groq…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23713" y="3527785"/>
            <a:ext cx="9525" cy="331816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12376100" y="3527785"/>
            <a:ext cx="5225949" cy="1104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0500" dirty="0"/>
          </a:p>
        </p:txBody>
      </p:sp>
      <p:sp>
        <p:nvSpPr>
          <p:cNvPr id="17" name="Text 15"/>
          <p:cNvSpPr/>
          <p:nvPr/>
        </p:nvSpPr>
        <p:spPr>
          <a:xfrm>
            <a:off x="12376100" y="4765997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licence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2202745" y="5539308"/>
            <a:ext cx="5323292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Achetée sur la page Pricing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Free Trial — 20 messages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Reçue par email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63" y="9413118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/ 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90088" y="9413118"/>
            <a:ext cx="141569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PRÉFACE 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04 / 58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8357" y="609563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9174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 — §05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3211897"/>
            <a:ext cx="8319554" cy="390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39000" i="1" kern="0" spc="-156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39000" dirty="0"/>
          </a:p>
        </p:txBody>
      </p:sp>
      <p:sp>
        <p:nvSpPr>
          <p:cNvPr id="7" name="Text 5"/>
          <p:cNvSpPr/>
          <p:nvPr/>
        </p:nvSpPr>
        <p:spPr>
          <a:xfrm>
            <a:off x="9372600" y="2945123"/>
            <a:ext cx="831955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PREMIÈRE PARTIE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600" y="3514167"/>
            <a:ext cx="8319554" cy="137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0" kern="0" spc="-2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Installer</a:t>
            </a:r>
            <a:r>
              <a:rPr lang="en-US" sz="12000" kern="0" spc="-2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372600" y="5159908"/>
            <a:ext cx="831955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Télécharger, configurer, activer. Cinq étapes pour rendre l'application opérationnelle.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72600" y="6498915"/>
            <a:ext cx="80772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6813128"/>
            <a:ext cx="831955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 INSTALLER · §02 ONBOARDING · §03 IA · §04 STT · §05 LICENCE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9413118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37026" y="9413118"/>
            <a:ext cx="1431223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INSTALLER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05 / 58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INSTALLER LAMU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 · 1/5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Télécharger pour votre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463589"/>
            <a:ext cx="1079174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binaires, un installateur. L'application s'ouvre automatiquement après installation.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63" y="3381784"/>
            <a:ext cx="52258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163" y="3741316"/>
            <a:ext cx="522583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838163" y="4514627"/>
            <a:ext cx="50736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838163" y="4714540"/>
            <a:ext cx="52258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63" y="5054984"/>
            <a:ext cx="52258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lamu-setup.exe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04863" y="5655059"/>
            <a:ext cx="4959134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 sur le 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4863" y="6156461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l'assistant d'installation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04863" y="6636432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« Installer »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254688" y="3381784"/>
            <a:ext cx="9525" cy="583376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6607076" y="3381784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7076" y="3741316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</a:t>
            </a:r>
            <a:endParaRPr lang="en-US" sz="4500" dirty="0"/>
          </a:p>
        </p:txBody>
      </p:sp>
      <p:sp>
        <p:nvSpPr>
          <p:cNvPr id="19" name="Shape 17"/>
          <p:cNvSpPr/>
          <p:nvPr/>
        </p:nvSpPr>
        <p:spPr>
          <a:xfrm>
            <a:off x="6607076" y="4514627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6607076" y="4714540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7076" y="5054984"/>
            <a:ext cx="52259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Lamu.dmg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6873776" y="5655059"/>
            <a:ext cx="4959249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.dmg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73776" y="6156461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Glisser Lamu dans Applications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873776" y="6636432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depuis le Launchpad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023713" y="3381784"/>
            <a:ext cx="9525" cy="583376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12376100" y="3381784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76100" y="3741316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</a:t>
            </a:r>
            <a:endParaRPr lang="en-US" sz="4500" dirty="0"/>
          </a:p>
        </p:txBody>
      </p:sp>
      <p:sp>
        <p:nvSpPr>
          <p:cNvPr id="28" name="Shape 26"/>
          <p:cNvSpPr/>
          <p:nvPr/>
        </p:nvSpPr>
        <p:spPr>
          <a:xfrm>
            <a:off x="12376100" y="4514627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12376100" y="4714540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76100" y="5054984"/>
            <a:ext cx="52259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Lamu.AppImage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2642800" y="5655059"/>
            <a:ext cx="4959249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rendre exécutable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642800" y="6156461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 pour lancer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642800" y="6636432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d'installation requise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5" name="Text 3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INSTALLER —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06 / 58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66282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PREMIER LANCEMENT — ONBOARDING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 · 2/5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 étapes pour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démarrer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866751" y="2844515"/>
            <a:ext cx="720124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nom — champ pré-rempli avec votre nom système. Modifiable.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163" y="386543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866751" y="3941638"/>
            <a:ext cx="720124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 — écran « Welcome to Lamu! » avec icône casque.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163" y="496256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866751" y="5038762"/>
            <a:ext cx="720124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API — bouton « Ouvrir Dev Space » pour configurer l'IA. Ou « Suivant » pour plus tard.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38163" y="605968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66751" y="6135886"/>
            <a:ext cx="720124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audio — accepter l'accès micro.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29750" y="276831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0458338" y="2844515"/>
            <a:ext cx="720124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 — connexion Google Calendar facultative.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29750" y="354932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vi.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0458338" y="3625528"/>
            <a:ext cx="7201244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 — présentation du simulateur d'entretien.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429750" y="464645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vii.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0458338" y="4722651"/>
            <a:ext cx="720124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! — écran « You're ready! », cliquer « Terminer ».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29750" y="5656064"/>
            <a:ext cx="8020087" cy="1489918"/>
          </a:xfrm>
          <a:prstGeom prst="roundRect">
            <a:avLst>
              <a:gd name="adj" fmla="val 7672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494" y="5853633"/>
            <a:ext cx="77750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ASTUCE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65494" y="6194078"/>
            <a:ext cx="7775058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étapes facultatives peuvent être configurées plus tard depuis le Dashboard.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ONBOARDING 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07 / 58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CONFIGURER UN FOURNISSEUR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 · 3/5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IA, pas de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réponses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425415"/>
            <a:ext cx="17110025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le Dev Space avec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Ctrl+Shift+D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⌘+Shift+D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Section « AI Providers ».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63" y="3314477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FOURNISSEURS DISPONIBLES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163" y="3807396"/>
            <a:ext cx="4205248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GPT-4o, o1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87590" y="3807396"/>
            <a:ext cx="4205248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4, Sonnet 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163" y="4695006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Flash, Pro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187590" y="4695006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Grok-2, Grok-3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38163" y="5205450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Medium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187590" y="5205450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R+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38163" y="5715893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3, Mixtral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187590" y="5715893"/>
            <a:ext cx="420524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gratuit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38163" y="6397786"/>
            <a:ext cx="8432192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63" y="6712000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PERSONNALISÉ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163" y="7090618"/>
            <a:ext cx="8685158" cy="774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la commande curl avec les variables :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{TEXT}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{SYSTEM_PROMPT}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{IMAGE}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{API_KEY}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41855" y="3314477"/>
            <a:ext cx="9525" cy="5901072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2843" y="3314477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22843" y="38073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1451431" y="3883596"/>
            <a:ext cx="617835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le fournisseur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422843" y="458840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1451431" y="4664608"/>
            <a:ext cx="617835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la clé API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422843" y="536942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11451431" y="5445621"/>
            <a:ext cx="617835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modèle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422843" y="6150434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29" name="Text 27"/>
          <p:cNvSpPr/>
          <p:nvPr/>
        </p:nvSpPr>
        <p:spPr>
          <a:xfrm>
            <a:off x="11451431" y="6226634"/>
            <a:ext cx="617835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(Option) Activer Streaming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0422843" y="6931447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500" dirty="0"/>
          </a:p>
        </p:txBody>
      </p:sp>
      <p:sp>
        <p:nvSpPr>
          <p:cNvPr id="31" name="Text 29"/>
          <p:cNvSpPr/>
          <p:nvPr/>
        </p:nvSpPr>
        <p:spPr>
          <a:xfrm>
            <a:off x="11451431" y="7007647"/>
            <a:ext cx="617835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» — indicateur vert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3" name="Text 31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AI PROVIDERS 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08 / 58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04107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 VOCALE (STT)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 · 4/5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Convertir la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voix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texte.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92882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FOURNISSEURS STT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42258"/>
            <a:ext cx="4487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recommandé · multilingue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99348" y="3242258"/>
            <a:ext cx="448726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ultra-rapide · gratuit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752701"/>
            <a:ext cx="448715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 · faible latence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99348" y="3752701"/>
            <a:ext cx="4487268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 + voix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640312"/>
            <a:ext cx="4487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Speech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99348" y="4640312"/>
            <a:ext cx="448726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Speech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150755"/>
            <a:ext cx="4487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Speechmatics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499348" y="5150755"/>
            <a:ext cx="448726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Rev.ai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163" y="5661199"/>
            <a:ext cx="4487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27419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11008407" y="2749339"/>
            <a:ext cx="66345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08407" y="324225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2036996" y="3318458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Space · onglet STT Providers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008407" y="402327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2036996" y="4099471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 fournisseur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008407" y="48042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2036996" y="4880483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la clé API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008407" y="55852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26" name="Text 24"/>
          <p:cNvSpPr/>
          <p:nvPr/>
        </p:nvSpPr>
        <p:spPr>
          <a:xfrm>
            <a:off x="12036996" y="5661496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 la langue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008407" y="63663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500" dirty="0"/>
          </a:p>
        </p:txBody>
      </p:sp>
      <p:sp>
        <p:nvSpPr>
          <p:cNvPr id="28" name="Text 26"/>
          <p:cNvSpPr/>
          <p:nvPr/>
        </p:nvSpPr>
        <p:spPr>
          <a:xfrm>
            <a:off x="12036996" y="6442509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»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STT 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09 / 58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26399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ACTIVER VOTRE LICENCE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 · 5/5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façons d'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activer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863639"/>
            <a:ext cx="807915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838163" y="3968465"/>
            <a:ext cx="807915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Avec une clé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4779950"/>
            <a:ext cx="78438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501803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5094238"/>
            <a:ext cx="701970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« Get License »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579905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5875251"/>
            <a:ext cx="701970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la clé reçue par email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658006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6656263"/>
            <a:ext cx="701970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« Activer »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39200" y="2863639"/>
            <a:ext cx="9525" cy="4821362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5888" y="2863639"/>
            <a:ext cx="807926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9605888" y="3968465"/>
            <a:ext cx="8079268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Connexion email</a:t>
            </a:r>
            <a:endParaRPr lang="en-US" sz="4500" dirty="0"/>
          </a:p>
        </p:txBody>
      </p:sp>
      <p:sp>
        <p:nvSpPr>
          <p:cNvPr id="19" name="Shape 17"/>
          <p:cNvSpPr/>
          <p:nvPr/>
        </p:nvSpPr>
        <p:spPr>
          <a:xfrm>
            <a:off x="9605888" y="4779950"/>
            <a:ext cx="78439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5888" y="501803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10634476" y="5094238"/>
            <a:ext cx="701982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« Connexion email »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05888" y="579905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0634476" y="5875251"/>
            <a:ext cx="701982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utilisé lors de l'achat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605888" y="658006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0634476" y="6656263"/>
            <a:ext cx="701982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Se connecter » — licence transférée automatiquement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38163" y="7989726"/>
            <a:ext cx="16611674" cy="1225823"/>
          </a:xfrm>
          <a:prstGeom prst="roundRect">
            <a:avLst>
              <a:gd name="adj" fmla="val 10878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0032" y="8274025"/>
            <a:ext cx="3370399" cy="657225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0526" y="8338319"/>
            <a:ext cx="319052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CHANGEMENT D'ORDINATEUR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25157" y="8225470"/>
            <a:ext cx="12682196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Lamu sur la nouvelle machine, utiliser la </a:t>
            </a: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B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l'ancien poste est délié automatiquement.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Text 29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LICENCE 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10 / 58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157" y="609563"/>
            <a:ext cx="173611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9174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 — §18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3211897"/>
            <a:ext cx="8319554" cy="390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39000" i="1" kern="0" spc="-156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39000" dirty="0"/>
          </a:p>
        </p:txBody>
      </p:sp>
      <p:sp>
        <p:nvSpPr>
          <p:cNvPr id="7" name="Text 5"/>
          <p:cNvSpPr/>
          <p:nvPr/>
        </p:nvSpPr>
        <p:spPr>
          <a:xfrm>
            <a:off x="9372600" y="2812963"/>
            <a:ext cx="831955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DEUXIÈME PARTIE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600" y="3382008"/>
            <a:ext cx="8319554" cy="137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0" kern="0" spc="-2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Utiliser</a:t>
            </a:r>
            <a:r>
              <a:rPr lang="en-US" sz="12000" kern="0" spc="-2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372600" y="5027749"/>
            <a:ext cx="831955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L'overlay, le micro, les réunions. Le geste quotidien de Lamu.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72600" y="6366756"/>
            <a:ext cx="80772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6680969"/>
            <a:ext cx="8319554" cy="831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 · MICRO · AUDIO SYSTÈME · MEETING · VALIDATION · PLAYBOOK · COACH · SUMMARY · SCREENSHOT · CLIPBOARD · EXPORT · MODES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9413118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0088" y="9413118"/>
            <a:ext cx="141569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UTILISER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11 / 58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19651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NAVIGUER DANS L'APPLICATION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1/13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fenêtres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deux usages.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826069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OVERLAY FLOTTANT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46933"/>
            <a:ext cx="826069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Toujours visible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3920244"/>
            <a:ext cx="802008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1104863" y="4120158"/>
            <a:ext cx="79939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 par-dessus toutes les applications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600129"/>
            <a:ext cx="79939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Contient micro, réponses IA, chat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5080099"/>
            <a:ext cx="7993990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avec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Ctrl+\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38163" y="5778624"/>
            <a:ext cx="8020087" cy="1904926"/>
          </a:xfrm>
          <a:prstGeom prst="roundRect">
            <a:avLst>
              <a:gd name="adj" fmla="val 7000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307" y="6197650"/>
            <a:ext cx="800580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Shape 13"/>
          <p:cNvSpPr/>
          <p:nvPr/>
        </p:nvSpPr>
        <p:spPr>
          <a:xfrm>
            <a:off x="997669" y="5944046"/>
            <a:ext cx="95213" cy="95213"/>
          </a:xfrm>
          <a:prstGeom prst="ellipse">
            <a:avLst/>
          </a:prstGeom>
          <a:solidFill>
            <a:srgbClr val="D6544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095" y="5944046"/>
            <a:ext cx="95213" cy="95213"/>
          </a:xfrm>
          <a:prstGeom prst="ellipse">
            <a:avLst/>
          </a:prstGeom>
          <a:solidFill>
            <a:srgbClr val="D9A2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8521" y="5944046"/>
            <a:ext cx="95213" cy="95213"/>
          </a:xfrm>
          <a:prstGeom prst="ellipse">
            <a:avLst/>
          </a:prstGeom>
          <a:solidFill>
            <a:srgbClr val="4B9C4F"/>
          </a:solidFill>
          <a:ln/>
        </p:spPr>
      </p:sp>
      <p:sp>
        <p:nvSpPr>
          <p:cNvPr id="18" name="Text 16"/>
          <p:cNvSpPr/>
          <p:nvPr/>
        </p:nvSpPr>
        <p:spPr>
          <a:xfrm>
            <a:off x="6229462" y="5859549"/>
            <a:ext cx="254548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 · floating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7669" y="6357156"/>
            <a:ext cx="7701074" cy="571500"/>
          </a:xfrm>
          <a:prstGeom prst="roundRect">
            <a:avLst>
              <a:gd name="adj" fmla="val 13333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41697" y="6516700"/>
            <a:ext cx="761301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RÉPONSE IA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7669" y="7023869"/>
            <a:ext cx="692386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8163" y="7088163"/>
            <a:ext cx="48759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766181" y="7023869"/>
            <a:ext cx="966750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6674" y="7088163"/>
            <a:ext cx="76196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809056" y="7023869"/>
            <a:ext cx="1378297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9550" y="7088163"/>
            <a:ext cx="117351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63479" y="7023869"/>
            <a:ext cx="418021" cy="392906"/>
          </a:xfrm>
          <a:prstGeom prst="ellipse">
            <a:avLst/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3973" y="7088163"/>
            <a:ext cx="21323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29750" y="2749339"/>
            <a:ext cx="826069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— DASHBOARD / DEV SPACE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29750" y="3146933"/>
            <a:ext cx="8260690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Pleine fenêtre</a:t>
            </a:r>
            <a:endParaRPr lang="en-US" sz="4500" dirty="0"/>
          </a:p>
        </p:txBody>
      </p:sp>
      <p:sp>
        <p:nvSpPr>
          <p:cNvPr id="31" name="Shape 29"/>
          <p:cNvSpPr/>
          <p:nvPr/>
        </p:nvSpPr>
        <p:spPr>
          <a:xfrm>
            <a:off x="9429750" y="3920244"/>
            <a:ext cx="802008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9429750" y="4120158"/>
            <a:ext cx="82606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gauche · pages :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429750" y="4600129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554038" y="4600129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9429750" y="5034446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3554038" y="5034446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429750" y="5468764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Generator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3554038" y="5468764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429750" y="5903082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3554038" y="5903082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9429750" y="6337399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3554038" y="6337399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429750" y="6771717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Space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3554038" y="6771717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9429750" y="7206035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13554038" y="7206035"/>
            <a:ext cx="401267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9429750" y="7640352"/>
            <a:ext cx="4012558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9" name="Text 47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NAVIGATION —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12 / 58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81826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L'OVERLAY — UTILISATION DE 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2/13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Poser une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Lire la réponse.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38163" y="2863639"/>
            <a:ext cx="8097664" cy="3685617"/>
          </a:xfrm>
          <a:prstGeom prst="roundRect">
            <a:avLst>
              <a:gd name="adj" fmla="val 3618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307" y="3282665"/>
            <a:ext cx="80833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Shape 7"/>
          <p:cNvSpPr/>
          <p:nvPr/>
        </p:nvSpPr>
        <p:spPr>
          <a:xfrm>
            <a:off x="997669" y="3029062"/>
            <a:ext cx="95213" cy="95213"/>
          </a:xfrm>
          <a:prstGeom prst="ellipse">
            <a:avLst/>
          </a:prstGeom>
          <a:solidFill>
            <a:srgbClr val="D65447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095" y="3029062"/>
            <a:ext cx="95213" cy="95213"/>
          </a:xfrm>
          <a:prstGeom prst="ellipse">
            <a:avLst/>
          </a:prstGeom>
          <a:solidFill>
            <a:srgbClr val="D9A23A"/>
          </a:solidFill>
          <a:ln/>
        </p:spPr>
      </p:sp>
      <p:sp>
        <p:nvSpPr>
          <p:cNvPr id="11" name="Shape 9"/>
          <p:cNvSpPr/>
          <p:nvPr/>
        </p:nvSpPr>
        <p:spPr>
          <a:xfrm>
            <a:off x="1378521" y="3029062"/>
            <a:ext cx="95213" cy="95213"/>
          </a:xfrm>
          <a:prstGeom prst="ellipse">
            <a:avLst/>
          </a:prstGeom>
          <a:solidFill>
            <a:srgbClr val="4B9C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0097" y="2944564"/>
            <a:ext cx="172238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Listening…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4773" y="2944564"/>
            <a:ext cx="48774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35732" y="3480234"/>
            <a:ext cx="7702525" cy="1619176"/>
          </a:xfrm>
          <a:prstGeom prst="roundRect">
            <a:avLst>
              <a:gd name="adj" fmla="val 4706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252426" y="3658828"/>
            <a:ext cx="7500213" cy="130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IA — affichage mot par mot si streaming activé…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35732" y="5232685"/>
            <a:ext cx="829568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226" y="5296979"/>
            <a:ext cx="62478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60513" y="5232685"/>
            <a:ext cx="966750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1007" y="5296979"/>
            <a:ext cx="76196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35732" y="5758867"/>
            <a:ext cx="77025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5732" y="5901630"/>
            <a:ext cx="1692176" cy="45005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226" y="5965924"/>
            <a:ext cx="148738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General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823121" y="5901630"/>
            <a:ext cx="1966540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3614" y="5965924"/>
            <a:ext cx="176175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Interview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84874" y="5901630"/>
            <a:ext cx="1554993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5368" y="5965924"/>
            <a:ext cx="135020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Coding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35080" y="5901630"/>
            <a:ext cx="1417811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574" y="5965924"/>
            <a:ext cx="121302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🤝 Sales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07327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88314" y="2749339"/>
            <a:ext cx="75823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DEUX ENTRÉES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55014" y="3146933"/>
            <a:ext cx="73156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bouton micro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5014" y="3626904"/>
            <a:ext cx="73156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Quick Actions sous l'overlay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088314" y="4278325"/>
            <a:ext cx="736152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4" name="Text 32"/>
          <p:cNvSpPr/>
          <p:nvPr/>
        </p:nvSpPr>
        <p:spPr>
          <a:xfrm>
            <a:off x="10088314" y="4592538"/>
            <a:ext cx="75823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SOUS CHAQUE RÉPONSE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355014" y="4990133"/>
            <a:ext cx="7315668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presse-papiers (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Ctrl+Shift+C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0355014" y="5555270"/>
            <a:ext cx="73156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lecture vocale (TTS)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088314" y="6206691"/>
            <a:ext cx="736152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8" name="Text 36"/>
          <p:cNvSpPr/>
          <p:nvPr/>
        </p:nvSpPr>
        <p:spPr>
          <a:xfrm>
            <a:off x="10088314" y="6520904"/>
            <a:ext cx="75823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DÉPLACER LA FENÊTRE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088314" y="6918499"/>
            <a:ext cx="7582368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Ctrl+↑ ↓ ← →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ou drag à la souris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1" name="Text 39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OVERLAY —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13 / 58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UTILISER LE MICRO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3/13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modes d'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enregistrement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MANUEL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27846"/>
            <a:ext cx="807915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&amp; talk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3901157"/>
            <a:ext cx="78438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10107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177271"/>
            <a:ext cx="701970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Start Recording » — barre rouge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882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958283"/>
            <a:ext cx="701970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Parler — compteur « Recording Xs / Xs max »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663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739296"/>
            <a:ext cx="7019707" cy="484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Stop &amp; Send » (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163" y="645281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866751" y="6529015"/>
            <a:ext cx="7019707" cy="484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« Discard » (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Échap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39200" y="2768315"/>
            <a:ext cx="9525" cy="495999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5888" y="2768315"/>
            <a:ext cx="80792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CONTINU — VAD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5888" y="3127846"/>
            <a:ext cx="8079268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listening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9605888" y="3901157"/>
            <a:ext cx="78439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9872588" y="4101071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Basculer sur «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en haut de l'overlay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72588" y="4581041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vert pulsant — « Listening… X.Xs »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872588" y="5061012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Parler naturellement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72588" y="5540983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détecté → envoi automatique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8163" y="8033035"/>
            <a:ext cx="5334037" cy="1182514"/>
          </a:xfrm>
          <a:prstGeom prst="roundRect">
            <a:avLst>
              <a:gd name="adj" fmla="val 9666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3907" y="8230605"/>
            <a:ext cx="50084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RACCOURCI GLOBAL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3907" y="8571049"/>
            <a:ext cx="5008426" cy="48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Ctrl+Shift+.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toggle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476926" y="8033035"/>
            <a:ext cx="5334037" cy="1182514"/>
          </a:xfrm>
          <a:prstGeom prst="roundRect">
            <a:avLst>
              <a:gd name="adj" fmla="val 9666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2669" y="8230605"/>
            <a:ext cx="50084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SENSIBILITÉ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12669" y="8571049"/>
            <a:ext cx="5008426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Normal · High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Advanced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115688" y="8033035"/>
            <a:ext cx="5334037" cy="1182514"/>
          </a:xfrm>
          <a:prstGeom prst="roundRect">
            <a:avLst>
              <a:gd name="adj" fmla="val 9666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51432" y="8230605"/>
            <a:ext cx="50084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LANGUE STT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51432" y="8571049"/>
            <a:ext cx="5008426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Auto-detect, EN, FR…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Text 34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MICRO —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14 / 58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26399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AUDIO SYSTÈME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4/13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Écouter ce qui sort des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haut-parleurs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444502"/>
            <a:ext cx="1079174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Zoom, Teams, Meet, YouTube — tout ce qui passe par la sortie audio peut être transcrit.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63" y="3210223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163" y="370314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866751" y="3779341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Zoom / Teams / Meet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163" y="4484154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866751" y="4560354"/>
            <a:ext cx="7625712" cy="904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→ bouton casque « Start system audio capture »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raccourci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38163" y="5693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66751" y="5769322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devient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écoute active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38163" y="647413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866751" y="6550335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Re-clic pour arrêter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841855" y="3210223"/>
            <a:ext cx="9525" cy="6005326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2843" y="3210223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CONFIGURER LE PÉRIPHÉRIQUE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2843" y="3607817"/>
            <a:ext cx="723780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22843" y="4183112"/>
            <a:ext cx="702699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2843" y="4421200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22843" y="4742669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 votre micro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22843" y="5310262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2843" y="5631731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 les haut-parleurs / casque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22843" y="6199324"/>
            <a:ext cx="723780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vert = périphérique détecté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AUDIO SYSTÈME 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15 / 58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19651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RÉUNION — MEETING MODE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5/13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Lamu, en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veille active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GESTE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46933"/>
            <a:ext cx="723768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Bouton « Meeting »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3920244"/>
            <a:ext cx="702688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120158"/>
            <a:ext cx="7237689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Devient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affiche :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163" y="4611625"/>
            <a:ext cx="72376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Live — always listening, auto-restarts after each response »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38163" y="5287826"/>
            <a:ext cx="702688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5525914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AUTO-SPEAK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163" y="5885445"/>
            <a:ext cx="723768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haut-parleur → chaque réponse IA est lue à voix haute.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436546" y="2749339"/>
            <a:ext cx="9525" cy="5029646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533" y="2749339"/>
            <a:ext cx="86852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BOUCLE AUTOMATIQUE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17533" y="324225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0046122" y="3318458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démarre — point vert pulsant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017533" y="402327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0046122" y="4099471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Quelqu'un parle → transcription temps réel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017533" y="48042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0046122" y="4880483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interim affiché en italique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017533" y="55852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0046122" y="5661496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→ envoi à l'IA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017533" y="63663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500" dirty="0"/>
          </a:p>
        </p:txBody>
      </p:sp>
      <p:sp>
        <p:nvSpPr>
          <p:cNvPr id="26" name="Text 24"/>
          <p:cNvSpPr/>
          <p:nvPr/>
        </p:nvSpPr>
        <p:spPr>
          <a:xfrm>
            <a:off x="10046122" y="6442509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affichée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017533" y="71473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500" dirty="0"/>
          </a:p>
        </p:txBody>
      </p:sp>
      <p:sp>
        <p:nvSpPr>
          <p:cNvPr id="28" name="Text 26"/>
          <p:cNvSpPr/>
          <p:nvPr/>
        </p:nvSpPr>
        <p:spPr>
          <a:xfrm>
            <a:off x="10046122" y="7223522"/>
            <a:ext cx="7625827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Recommence — boucle continue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838163" y="8083711"/>
            <a:ext cx="16611674" cy="1131838"/>
          </a:xfrm>
          <a:prstGeom prst="roundRect">
            <a:avLst>
              <a:gd name="adj" fmla="val 11782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1969" y="8281281"/>
            <a:ext cx="1654598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DÉTECTION AUTOMATIQUE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1969" y="8640812"/>
            <a:ext cx="1654598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· Teams · Meet · Slack · Discord · OBS · Webex · GoToMeeting · Skype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Zoom detected — meeting mode auto-enabled »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3" name="Text 31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MEETING MODE 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16 / 58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90622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HUMAINE — HUMAN-IN-THE-LOOP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6/13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d'envoyer.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46933"/>
            <a:ext cx="723768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toggle «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avant IA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→ vert.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38163" y="3798354"/>
            <a:ext cx="702688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112568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163" y="4491186"/>
            <a:ext cx="7237689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STT n'est pas parfait. Une seconde de relecture évite une réponse IA à côté de la plaque.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36546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Shape 11"/>
          <p:cNvSpPr/>
          <p:nvPr/>
        </p:nvSpPr>
        <p:spPr>
          <a:xfrm>
            <a:off x="9017533" y="2825465"/>
            <a:ext cx="8432304" cy="3216920"/>
          </a:xfrm>
          <a:prstGeom prst="roundRect">
            <a:avLst>
              <a:gd name="adj" fmla="val 4145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24677" y="2832608"/>
            <a:ext cx="8418016" cy="419026"/>
          </a:xfrm>
          <a:prstGeom prst="rect">
            <a:avLst/>
          </a:prstGeom>
          <a:solidFill>
            <a:srgbClr val="FF5C2A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24677" y="3244490"/>
            <a:ext cx="8418016" cy="9525"/>
          </a:xfrm>
          <a:prstGeom prst="rect">
            <a:avLst/>
          </a:prstGeom>
          <a:solidFill>
            <a:srgbClr val="FF5C2A"/>
          </a:solidFill>
          <a:ln/>
        </p:spPr>
      </p:sp>
      <p:sp>
        <p:nvSpPr>
          <p:cNvPr id="16" name="Text 14"/>
          <p:cNvSpPr/>
          <p:nvPr/>
        </p:nvSpPr>
        <p:spPr>
          <a:xfrm>
            <a:off x="9519828" y="2906390"/>
            <a:ext cx="254548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requise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53277" y="3480234"/>
            <a:ext cx="7960816" cy="952463"/>
          </a:xfrm>
          <a:prstGeom prst="roundRect">
            <a:avLst>
              <a:gd name="adj" fmla="val 8000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450921" y="3639778"/>
            <a:ext cx="7804353" cy="6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 client demande une démo de l'agent SQL pour vendredi prochain. »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3277" y="4604147"/>
            <a:ext cx="3063999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3771" y="4668441"/>
            <a:ext cx="287493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 Screenshot jointe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450552" y="4604147"/>
            <a:ext cx="1744080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91045" y="4668441"/>
            <a:ext cx="15392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 Modifier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53277" y="5225653"/>
            <a:ext cx="79608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277" y="5406591"/>
            <a:ext cx="2169691" cy="400050"/>
          </a:xfrm>
          <a:prstGeom prst="roundRect">
            <a:avLst>
              <a:gd name="adj" fmla="val 50000"/>
            </a:avLst>
          </a:prstGeom>
          <a:solidFill>
            <a:srgbClr val="4B9C4F">
              <a:alpha val="18000"/>
            </a:srgbClr>
          </a:solidFill>
          <a:ln w="7144">
            <a:solidFill>
              <a:srgbClr val="4B9C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3771" y="5470885"/>
            <a:ext cx="196490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D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Approuver ⌘+↵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556243" y="5406591"/>
            <a:ext cx="1241115" cy="400050"/>
          </a:xfrm>
          <a:prstGeom prst="roundRect">
            <a:avLst>
              <a:gd name="adj" fmla="val 50000"/>
            </a:avLst>
          </a:prstGeom>
          <a:ln w="7144">
            <a:solidFill>
              <a:srgbClr val="D65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96737" y="5470885"/>
            <a:ext cx="103632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08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HITL —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17 / 58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 — SCRIPT DE RÉUNION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7/13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Charger un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toute la session.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→ bouton Playbook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7625712" cy="44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du texte ou uploader </a:t>
            </a:r>
            <a:r>
              <a:rPr lang="en-US" sz="22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.txt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22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Playbook »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547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623322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bouton affiche « Playbook ✓ »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38163" y="6328135"/>
            <a:ext cx="8432192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63" y="6528048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EFFACER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163" y="6868492"/>
            <a:ext cx="868515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Rouvrir le modal → « Clear » → contexte supprimé.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41855" y="2711165"/>
            <a:ext cx="9525" cy="65043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2843" y="2711165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D'USAGE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22843" y="3204083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de poste (entretien)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422843" y="3752701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commercial (rendez-vous client)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22843" y="4301319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produit (démo)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422843" y="4849937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à mémoriser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22843" y="5398554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de réunion précédente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422843" y="6042385"/>
            <a:ext cx="702699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10422843" y="6204235"/>
            <a:ext cx="723780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L'IA utilise ce document comme contexte pour </a:t>
            </a: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toutes </a:t>
            </a: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réponses suivantes.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PLAYBOOK —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18 / 58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43990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COACHING TIP — CONSEIL IA EN DIRECT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8/13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conseil,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contextuel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à la demande.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089783"/>
            <a:ext cx="723768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 une réunion, avec un transcript en cours.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38163" y="3665079"/>
            <a:ext cx="702688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3903166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163" y="433893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866751" y="4415135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Coach (apparaît si transcript)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38163" y="511994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66751" y="5196148"/>
            <a:ext cx="6178243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Bandeau violet « Coaching · Analyse en cours… »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38163" y="621707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866751" y="6293272"/>
            <a:ext cx="6178243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 affiché — bouton ↻ pour en demander un autre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436546" y="2711165"/>
            <a:ext cx="9525" cy="65043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Shape 16"/>
          <p:cNvSpPr/>
          <p:nvPr/>
        </p:nvSpPr>
        <p:spPr>
          <a:xfrm>
            <a:off x="9017533" y="2711165"/>
            <a:ext cx="8432304" cy="1871439"/>
          </a:xfrm>
          <a:prstGeom prst="roundRect">
            <a:avLst>
              <a:gd name="adj" fmla="val 7126"/>
            </a:avLst>
          </a:prstGeom>
          <a:solidFill>
            <a:srgbClr val="DFD4BA"/>
          </a:solidFill>
          <a:ln w="7144">
            <a:solidFill>
              <a:srgbClr val="9B6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4677" y="2718308"/>
            <a:ext cx="8418016" cy="419026"/>
          </a:xfrm>
          <a:prstGeom prst="rect">
            <a:avLst/>
          </a:prstGeom>
          <a:solidFill>
            <a:srgbClr val="9B6CE0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4677" y="3130190"/>
            <a:ext cx="8418016" cy="9525"/>
          </a:xfrm>
          <a:prstGeom prst="rect">
            <a:avLst/>
          </a:prstGeom>
          <a:solidFill>
            <a:srgbClr val="9B6CE0"/>
          </a:solidFill>
          <a:ln/>
        </p:spPr>
      </p:sp>
      <p:sp>
        <p:nvSpPr>
          <p:cNvPr id="21" name="Text 19"/>
          <p:cNvSpPr/>
          <p:nvPr/>
        </p:nvSpPr>
        <p:spPr>
          <a:xfrm>
            <a:off x="9177040" y="2792090"/>
            <a:ext cx="117365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A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787701" y="2763515"/>
            <a:ext cx="57883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9403" y="3403997"/>
            <a:ext cx="8042822" cy="942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50" i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Le prospect semble </a:t>
            </a:r>
            <a:r>
              <a:rPr lang="en-US" sz="28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hésitant </a:t>
            </a:r>
            <a:r>
              <a:rPr lang="en-US" sz="2850" i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le prix — proposez un plan de paiement échelonné. »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COACHING 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19 / 58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43990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RÉSUMÉ DE RÉUNION — MEETING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35361" y="609563"/>
            <a:ext cx="24906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9/13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résumé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structuré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sauvegardé seul.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66345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659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42109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Avoir un transcript actif ou terminé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469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23122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Summary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2793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04135"/>
            <a:ext cx="55751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automatique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38163" y="5508947"/>
            <a:ext cx="644131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63" y="5670798"/>
            <a:ext cx="66345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163" y="6011242"/>
            <a:ext cx="6634558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Sauvegardé dans la KB sous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Meeting_[date].md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850981" y="2711165"/>
            <a:ext cx="9525" cy="65043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8431969" y="2711165"/>
            <a:ext cx="92884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TÉLÉCHARGEMENTS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31969" y="3165909"/>
            <a:ext cx="4394634" cy="1995339"/>
          </a:xfrm>
          <a:prstGeom prst="roundRect">
            <a:avLst>
              <a:gd name="adj" fmla="val 668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67713" y="3401653"/>
            <a:ext cx="4040841" cy="6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.txt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667713" y="4125516"/>
            <a:ext cx="4040841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brut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667713" y="4578809"/>
            <a:ext cx="404084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simple, sans timestamps.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055203" y="3165909"/>
            <a:ext cx="4394634" cy="1995339"/>
          </a:xfrm>
          <a:prstGeom prst="roundRect">
            <a:avLst>
              <a:gd name="adj" fmla="val 668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90947" y="3401653"/>
            <a:ext cx="4040841" cy="6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.srt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3290947" y="4125516"/>
            <a:ext cx="4040841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sous-titres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290947" y="4578809"/>
            <a:ext cx="404084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timestamps, prêt pour vidéo.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431969" y="5427911"/>
            <a:ext cx="901786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8431969" y="5589761"/>
            <a:ext cx="928840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Retrouvable plus tard :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→ onglet Meetings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SUMMARY 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20 / 58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&amp; CAPTURE D'ÉCRAN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10/13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image vaut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 tokens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PRENDRE UNE CAPTURE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46933"/>
            <a:ext cx="8079153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Raccourci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ou bouton « Screenshot »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38163" y="3807396"/>
            <a:ext cx="78438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045483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163" y="4366952"/>
            <a:ext cx="8079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Plein écran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915570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INDICATEUR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163" y="5237038"/>
            <a:ext cx="8079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Screenshot attached · Will be sent with next transcription »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785656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163" y="6107125"/>
            <a:ext cx="807915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✕ sur la miniature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5888" y="2749339"/>
            <a:ext cx="80792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AUTOMATIQUE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5888" y="3146933"/>
            <a:ext cx="80792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05888" y="3722229"/>
            <a:ext cx="78439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872588" y="3960316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joint au prochain message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72588" y="4440287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envoyé immédiatement à l'IA avec un prompt préconfiguré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05888" y="5015582"/>
            <a:ext cx="7843949" cy="1085627"/>
          </a:xfrm>
          <a:prstGeom prst="roundRect">
            <a:avLst>
              <a:gd name="adj" fmla="val 10528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841632" y="5213152"/>
            <a:ext cx="75936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TYPIQUE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41632" y="5553596"/>
            <a:ext cx="7593635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Coding → screenshot d'un bug → IA solve from screenshot.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SCREENSHOT 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21 / 58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43990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COLLER DU CONTENU — CLIPBOARD PASTE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11/13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usage unique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58534" y="4620444"/>
            <a:ext cx="5467845" cy="13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2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758534" y="6030106"/>
            <a:ext cx="546784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Copier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758534" y="6765354"/>
            <a:ext cx="5467845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n'importe quelle application.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410022" y="4620444"/>
            <a:ext cx="5467845" cy="13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2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6410022" y="6030106"/>
            <a:ext cx="546784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Cliquer Paste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6410022" y="6765354"/>
            <a:ext cx="546784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devient «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— contenu attaché.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061509" y="4620444"/>
            <a:ext cx="5467845" cy="13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2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12061509" y="6030106"/>
            <a:ext cx="546784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Poser la question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061509" y="6765354"/>
            <a:ext cx="546784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texte est inclus comme contexte, puis automatiquement effacé.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CLIPBOARD 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22 / 58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73030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EXPORTER LA CONVERSATION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12/13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Toute la session, en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5024177"/>
            <a:ext cx="7509708" cy="2068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9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.md</a:t>
            </a:r>
            <a:endParaRPr lang="en-US" sz="19500" dirty="0"/>
          </a:p>
        </p:txBody>
      </p:sp>
      <p:sp>
        <p:nvSpPr>
          <p:cNvPr id="8" name="Text 6"/>
          <p:cNvSpPr/>
          <p:nvPr/>
        </p:nvSpPr>
        <p:spPr>
          <a:xfrm>
            <a:off x="8700641" y="4367399"/>
            <a:ext cx="901167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00641" y="482214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729229" y="4898343"/>
            <a:ext cx="7952226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Avoir au moins un message dans la conversation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700641" y="560315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729229" y="5679356"/>
            <a:ext cx="7952226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Export dans la barre d'actions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700641" y="638416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729229" y="6460368"/>
            <a:ext cx="7952226" cy="44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</a:t>
            </a:r>
            <a:r>
              <a:rPr lang="en-US" sz="22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téléchargé — ouvrable dans tout éditeur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700641" y="7203244"/>
            <a:ext cx="874919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8700641" y="7365095"/>
            <a:ext cx="901167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Contient l'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intégralité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l'échange — messages utilisateur et réponses IA.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EXPORT 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23 / 58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MODES D'ASSISTANT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 · 13/13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personnalités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quatre boîtes à outils.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39169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GENERAL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84996"/>
            <a:ext cx="3916904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Polyvalent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838163" y="3764421"/>
            <a:ext cx="38028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664808" y="3945359"/>
            <a:ext cx="4052374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say?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questions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869582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5107670" y="2768315"/>
            <a:ext cx="391701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INTERVIEW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07670" y="3184996"/>
            <a:ext cx="391701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5107670" y="3764421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4315" y="3945359"/>
            <a:ext cx="4052486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STAR answer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questions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 this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39200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377288" y="2768315"/>
            <a:ext cx="391701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CODING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7288" y="3184996"/>
            <a:ext cx="391701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</a:t>
            </a:r>
            <a:endParaRPr lang="en-US" sz="3150" dirty="0"/>
          </a:p>
        </p:txBody>
      </p:sp>
      <p:sp>
        <p:nvSpPr>
          <p:cNvPr id="19" name="Shape 17"/>
          <p:cNvSpPr/>
          <p:nvPr/>
        </p:nvSpPr>
        <p:spPr>
          <a:xfrm>
            <a:off x="9377288" y="3764421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203933" y="3945359"/>
            <a:ext cx="4052486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from screenshot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solution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/ Edge cases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408819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646907" y="2768315"/>
            <a:ext cx="391701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🤝 SALES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46907" y="3184996"/>
            <a:ext cx="391701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Closer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13646907" y="3764421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13473552" y="3945359"/>
            <a:ext cx="4052486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objection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language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MODES 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24 / 58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90068" y="609563"/>
            <a:ext cx="173611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9174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§19 — §37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3360465"/>
            <a:ext cx="8319554" cy="3604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36000" i="1" kern="0" spc="-14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36000" dirty="0"/>
          </a:p>
        </p:txBody>
      </p:sp>
      <p:sp>
        <p:nvSpPr>
          <p:cNvPr id="7" name="Text 5"/>
          <p:cNvSpPr/>
          <p:nvPr/>
        </p:nvSpPr>
        <p:spPr>
          <a:xfrm>
            <a:off x="9372600" y="2680804"/>
            <a:ext cx="831955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TROISIÈME PARTIE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600" y="3249848"/>
            <a:ext cx="8319554" cy="137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0" kern="0" spc="-2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Maîtriser</a:t>
            </a:r>
            <a:r>
              <a:rPr lang="en-US" sz="12000" kern="0" spc="-2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372600" y="4895590"/>
            <a:ext cx="831955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Base, intégrations, email vocal, entretiens. La partie la plus dense — et la plus puissante.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72600" y="6234596"/>
            <a:ext cx="80772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6548810"/>
            <a:ext cx="831955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· SÉMANTIQUE · INTÉGRATIONS · SQL · DOSSIERS · WEBHOOKS · EMBEDDING · SMTP · VOIX → EMAIL · CONTACTS · INTERVIEW · CV · SESSIONS · CALENDRIER · PROMPTS · SETTINGS · SHORTCUTS · CHATS · ACTIVITY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3263" y="9413118"/>
            <a:ext cx="140014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MAÎTRISER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25 / 58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90622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BASE — AJOUTER DES DOCUMENTS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façons de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nourrir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base.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39169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URL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089783"/>
            <a:ext cx="3916904" cy="40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50" kern="0" spc="-29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web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838163" y="3592190"/>
            <a:ext cx="38028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3734953"/>
            <a:ext cx="3916904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l'URL → « Add URL ». Lamu télécharge, découpe, indexe.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869582" y="2749339"/>
            <a:ext cx="9525" cy="535100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5107670" y="2749339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FICHIER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07670" y="3089783"/>
            <a:ext cx="3917019" cy="40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50" kern="0" spc="-29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5107670" y="359219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5107670" y="3734953"/>
            <a:ext cx="3917019" cy="1121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ou clic. Formats : </a:t>
            </a:r>
            <a:r>
              <a:rPr lang="en-US" sz="19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· DOCX · TXT · MD · CSV · RST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39200" y="2749339"/>
            <a:ext cx="9525" cy="535100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377288" y="2749339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NIVEAU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7288" y="3089783"/>
            <a:ext cx="3917019" cy="40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50" kern="0" spc="-29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Accès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377288" y="359219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377288" y="3734953"/>
            <a:ext cx="3917019" cy="1142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le badge : </a:t>
            </a:r>
            <a:r>
              <a:rPr lang="en-US" sz="19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· Internal · Confidential · Secret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408819" y="2749339"/>
            <a:ext cx="9525" cy="535100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646907" y="2749339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OUTILS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46907" y="3089783"/>
            <a:ext cx="3917019" cy="407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50" kern="0" spc="-29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13646907" y="359219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13646907" y="3734953"/>
            <a:ext cx="391701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Résumer (IA) · Supprimer · Export CSV de toute la KB.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8163" y="8443243"/>
            <a:ext cx="16611674" cy="772306"/>
          </a:xfrm>
          <a:prstGeom prst="roundRect">
            <a:avLst>
              <a:gd name="adj" fmla="val 148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1969" y="8697181"/>
            <a:ext cx="230538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TABLEAU DE BORD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45880" y="8640812"/>
            <a:ext cx="5120867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·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·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KB DOCUMENTS 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26 / 58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10855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 SÉMANTIQUE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2/19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 par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pas par mot.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3254536"/>
            <a:ext cx="1925538" cy="1600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5000" kern="0" spc="-45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2916101" y="4133217"/>
            <a:ext cx="4139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838163" y="4990467"/>
            <a:ext cx="796142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similarity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838163" y="5668566"/>
            <a:ext cx="79614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 sémantique des phrases.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8163" y="6319986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63" y="6634200"/>
            <a:ext cx="1445568" cy="113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0500" kern="0" spc="-315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0500" dirty="0"/>
          </a:p>
        </p:txBody>
      </p:sp>
      <p:sp>
        <p:nvSpPr>
          <p:cNvPr id="13" name="Text 11"/>
          <p:cNvSpPr/>
          <p:nvPr/>
        </p:nvSpPr>
        <p:spPr>
          <a:xfrm>
            <a:off x="2436130" y="7191412"/>
            <a:ext cx="346435" cy="631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8163" y="7879556"/>
            <a:ext cx="7961424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matching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838163" y="8363657"/>
            <a:ext cx="79614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 exacts.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20188" y="3902943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FLUX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20188" y="435768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0748776" y="4433888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Search — taper une question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20188" y="5138700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0748776" y="5214900"/>
            <a:ext cx="6902093" cy="484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Search (ou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720188" y="5928420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0748776" y="6004620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IA en Markdown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720188" y="670943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0748776" y="6785632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 sources avec </a:t>
            </a: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correspondance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720188" y="7528508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9720188" y="7690358"/>
            <a:ext cx="79615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les mots exacts du document ? Lamu trouve quand même.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RECHERCHE 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27 / 58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188702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INTÉGRATIONS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3/19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Onze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connecter.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425415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→ onglet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38163" y="3191135"/>
            <a:ext cx="4024275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615" y="3426879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20615" y="3905510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d'intégration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33888" y="3191135"/>
            <a:ext cx="4024387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6338" y="3426879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Drive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216338" y="3905510"/>
            <a:ext cx="36594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29725" y="3191135"/>
            <a:ext cx="4024275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2177" y="3426879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SharePoint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412177" y="3905510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25450" y="3191135"/>
            <a:ext cx="4024387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07901" y="3426879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607901" y="3905510"/>
            <a:ext cx="36594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Token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8163" y="4659399"/>
            <a:ext cx="4024275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615" y="4895143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20615" y="5373774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Token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5033888" y="4659399"/>
            <a:ext cx="4024387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6338" y="4895143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5216338" y="5373774"/>
            <a:ext cx="36594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229725" y="4659399"/>
            <a:ext cx="4024275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2177" y="4895143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412177" y="5373774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3425450" y="4659399"/>
            <a:ext cx="4024387" cy="1296814"/>
          </a:xfrm>
          <a:prstGeom prst="roundRect">
            <a:avLst>
              <a:gd name="adj" fmla="val 102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07901" y="4895143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3607901" y="5373774"/>
            <a:ext cx="36594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in browser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38163" y="6127663"/>
            <a:ext cx="4024275" cy="1643509"/>
          </a:xfrm>
          <a:prstGeom prst="roundRect">
            <a:avLst>
              <a:gd name="adj" fmla="val 8114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615" y="6363407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020615" y="6842038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token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5033888" y="6127663"/>
            <a:ext cx="4024387" cy="1643509"/>
          </a:xfrm>
          <a:prstGeom prst="roundRect">
            <a:avLst>
              <a:gd name="adj" fmla="val 8114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6338" y="6363407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5216338" y="6842038"/>
            <a:ext cx="36594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· 5432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229725" y="6127663"/>
            <a:ext cx="4024275" cy="1643509"/>
          </a:xfrm>
          <a:prstGeom prst="roundRect">
            <a:avLst>
              <a:gd name="adj" fmla="val 8114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2177" y="6363407"/>
            <a:ext cx="3659371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9412177" y="6842038"/>
            <a:ext cx="36593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· 3306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3425450" y="6127663"/>
            <a:ext cx="4024387" cy="1643509"/>
          </a:xfrm>
          <a:prstGeom prst="roundRect">
            <a:avLst>
              <a:gd name="adj" fmla="val 8114"/>
            </a:avLst>
          </a:prstGeom>
          <a:ln w="7144">
            <a:solidFill>
              <a:srgbClr val="FF5C2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3607901" y="6363407"/>
            <a:ext cx="3659486" cy="459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Auto-sync</a:t>
            </a:r>
            <a:endParaRPr lang="en-US" sz="2550" dirty="0"/>
          </a:p>
        </p:txBody>
      </p:sp>
      <p:sp>
        <p:nvSpPr>
          <p:cNvPr id="43" name="Text 41"/>
          <p:cNvSpPr/>
          <p:nvPr/>
        </p:nvSpPr>
        <p:spPr>
          <a:xfrm>
            <a:off x="13607901" y="6842038"/>
            <a:ext cx="365948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1h · 6h · 12h · 24h · Weekly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5" name="Text 4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INTÉGRATIONS —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28 / 58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SQL — BASES DE DONNÉES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4/19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français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SQL.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→ onglet SQL → choisir une base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Schema pour voir tables &amp; colonnes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 en langage naturel ou en SQL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547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623322"/>
            <a:ext cx="6178243" cy="484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Ctrl+↵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Execute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436546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7533" y="2749339"/>
            <a:ext cx="8432304" cy="2771105"/>
          </a:xfrm>
          <a:prstGeom prst="roundRect">
            <a:avLst>
              <a:gd name="adj" fmla="val 4812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4677" y="3168365"/>
            <a:ext cx="84180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9177040" y="2830264"/>
            <a:ext cx="26846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· production-db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369778" y="2830264"/>
            <a:ext cx="19967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· Clear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15103" y="3365934"/>
            <a:ext cx="8278280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Combien de clients ont commandé ce mois-ci ? »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215103" y="3849253"/>
            <a:ext cx="803716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9215103" y="3992017"/>
            <a:ext cx="827828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 </a:t>
            </a: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15103" y="4389611"/>
            <a:ext cx="827828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&gt;= date_trunc('month', NOW());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5103" y="4787205"/>
            <a:ext cx="803716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Shape 24"/>
          <p:cNvSpPr/>
          <p:nvPr/>
        </p:nvSpPr>
        <p:spPr>
          <a:xfrm>
            <a:off x="9215103" y="4929969"/>
            <a:ext cx="2109974" cy="392906"/>
          </a:xfrm>
          <a:prstGeom prst="roundRect">
            <a:avLst>
              <a:gd name="adj" fmla="val 50000"/>
            </a:avLst>
          </a:prstGeom>
          <a:solidFill>
            <a:srgbClr val="4B9C4F">
              <a:alpha val="16000"/>
            </a:srgbClr>
          </a:solidFill>
          <a:ln w="7144">
            <a:solidFill>
              <a:srgbClr val="4B9C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5596" y="4994263"/>
            <a:ext cx="190518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D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 1 284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17533" y="5749044"/>
            <a:ext cx="8432304" cy="1391022"/>
          </a:xfrm>
          <a:prstGeom prst="roundRect">
            <a:avLst>
              <a:gd name="adj" fmla="val 8217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277" y="5927638"/>
            <a:ext cx="819964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OPÉRATIONS D'ÉCRITURE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53277" y="6268083"/>
            <a:ext cx="819964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· UPDATE · DELETE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modal d'approbation obligatoire avec la requête exacte.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SQL 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29 / 58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9531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DOSSIERS SURVEILLÉS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5/19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dossier, des fichiers,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indexés seuls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→ onglet Fichiers PC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Add Folder » → sélectionner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fichiers supportés sont ingérés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38163" y="5547122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63" y="5708972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163" y="6049417"/>
            <a:ext cx="79614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 poubelle. Les documents déjà indexés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restent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la KB.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FORMATS DÉTECTÉS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20188" y="3242258"/>
            <a:ext cx="719844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60682" y="3306552"/>
            <a:ext cx="51505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54333" y="3242258"/>
            <a:ext cx="866180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4826" y="3306552"/>
            <a:ext cx="66139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534812" y="3242258"/>
            <a:ext cx="719844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75306" y="3306552"/>
            <a:ext cx="51505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368957" y="3242258"/>
            <a:ext cx="573509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09450" y="3306552"/>
            <a:ext cx="36872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056766" y="3242258"/>
            <a:ext cx="719844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97260" y="3306552"/>
            <a:ext cx="51505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20188" y="3939890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188" y="4101740"/>
            <a:ext cx="796153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</a:t>
            </a:r>
            <a:r>
              <a:rPr lang="en-US" sz="22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nouveaux fichiers </a:t>
            </a:r>
            <a:r>
              <a:rPr lang="en-US" sz="225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déposés dans le dossier sont détectés et indexés automatiquement.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DOSSIERS 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30 / 58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WEBHOOKS SORTANTS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6/19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Notifier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 UN WEBHOOK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4225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318458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→ Settings → Outgoing Webhooks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402327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99471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Add Webhook »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8042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80483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: Slack ou Teams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5852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661496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l'URL du webhook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163" y="63663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866751" y="6442509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»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Shape 17"/>
          <p:cNvSpPr/>
          <p:nvPr/>
        </p:nvSpPr>
        <p:spPr>
          <a:xfrm>
            <a:off x="9720188" y="2749339"/>
            <a:ext cx="7729649" cy="2676116"/>
          </a:xfrm>
          <a:prstGeom prst="roundRect">
            <a:avLst>
              <a:gd name="adj" fmla="val 4983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7332" y="3168365"/>
            <a:ext cx="7715362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9879732" y="2756483"/>
            <a:ext cx="7642022" cy="449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· slack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5932" y="3404108"/>
            <a:ext cx="74759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55932" y="3801703"/>
            <a:ext cx="74759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#sales-alerts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55932" y="4199297"/>
            <a:ext cx="74759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https://hooks.slack.com/services/…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55932" y="4596892"/>
            <a:ext cx="7258162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Shape 24"/>
          <p:cNvSpPr/>
          <p:nvPr/>
        </p:nvSpPr>
        <p:spPr>
          <a:xfrm>
            <a:off x="9955932" y="4739655"/>
            <a:ext cx="829568" cy="45005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6426" y="4803949"/>
            <a:ext cx="6247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880713" y="4739655"/>
            <a:ext cx="1400845" cy="45005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21206" y="4803949"/>
            <a:ext cx="1196057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 Delete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Text 29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WEBHOOKS 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31 / 58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41943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PARAMÈTRES D'EMBEDDING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7/19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moteur qui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documents en vecteurs.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522583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838163" y="3835078"/>
            <a:ext cx="522583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(local)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4589413"/>
            <a:ext cx="50736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1104863" y="4770351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Gratuit, tourne sur votre machine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5250321"/>
            <a:ext cx="4959134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: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http://localhost:11434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5751723"/>
            <a:ext cx="4959134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: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nomic-embed-text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254688" y="2768315"/>
            <a:ext cx="9525" cy="5300439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" name="Text 12"/>
          <p:cNvSpPr/>
          <p:nvPr/>
        </p:nvSpPr>
        <p:spPr>
          <a:xfrm>
            <a:off x="6607076" y="2768315"/>
            <a:ext cx="522594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6607076" y="3835078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4500" dirty="0"/>
          </a:p>
        </p:txBody>
      </p:sp>
      <p:sp>
        <p:nvSpPr>
          <p:cNvPr id="16" name="Shape 14"/>
          <p:cNvSpPr/>
          <p:nvPr/>
        </p:nvSpPr>
        <p:spPr>
          <a:xfrm>
            <a:off x="6607076" y="4589413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6433721" y="4770351"/>
            <a:ext cx="5323292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précis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API requise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d'embedding sélectionnable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023713" y="2768315"/>
            <a:ext cx="9525" cy="5300439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12376100" y="2768315"/>
            <a:ext cx="522594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</a:t>
            </a:r>
            <a:endParaRPr lang="en-US" sz="9000" dirty="0"/>
          </a:p>
        </p:txBody>
      </p:sp>
      <p:sp>
        <p:nvSpPr>
          <p:cNvPr id="20" name="Text 18"/>
          <p:cNvSpPr/>
          <p:nvPr/>
        </p:nvSpPr>
        <p:spPr>
          <a:xfrm>
            <a:off x="12376100" y="3835078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12376100" y="4589413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12202745" y="4770351"/>
            <a:ext cx="5323292" cy="864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Désactive l'embedding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keyword uniquement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838163" y="8373480"/>
            <a:ext cx="16611674" cy="842070"/>
          </a:xfrm>
          <a:prstGeom prst="roundRect">
            <a:avLst>
              <a:gd name="adj" fmla="val 13574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111969" y="8662355"/>
            <a:ext cx="24540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APRÈS CHANGEMENT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32733" y="8571049"/>
            <a:ext cx="9382679" cy="48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missing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nouveaux ·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Re-embed all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tout recalculer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EMBEDDING 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32 / 58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97370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VOCAL — CONFIGURATION SMTP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8/19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Brancher votre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boîte mail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CHAMPS À REMPLIR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163" y="3740981"/>
            <a:ext cx="23396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Text 7"/>
          <p:cNvSpPr/>
          <p:nvPr/>
        </p:nvSpPr>
        <p:spPr>
          <a:xfrm>
            <a:off x="1028663" y="3318458"/>
            <a:ext cx="2034890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77853" y="3740981"/>
            <a:ext cx="538984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3368353" y="3318458"/>
            <a:ext cx="5170543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smtp.gmail.com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4307570"/>
            <a:ext cx="23396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663" y="3881475"/>
            <a:ext cx="2034890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77853" y="4307570"/>
            <a:ext cx="538984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3368353" y="3881475"/>
            <a:ext cx="5170543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587 (STARTTLS) · 465 (SSL)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163" y="4874158"/>
            <a:ext cx="23396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663" y="4448063"/>
            <a:ext cx="2034890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77853" y="4874158"/>
            <a:ext cx="538984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3368353" y="4448063"/>
            <a:ext cx="5170543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d'envoi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163" y="5440747"/>
            <a:ext cx="23396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8663" y="5014652"/>
            <a:ext cx="2034890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77853" y="5440747"/>
            <a:ext cx="538984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3368353" y="5014652"/>
            <a:ext cx="5170543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/ App Password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163" y="6007336"/>
            <a:ext cx="23396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663" y="5581241"/>
            <a:ext cx="2034890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177853" y="6007336"/>
            <a:ext cx="538984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3368353" y="5581241"/>
            <a:ext cx="5170543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expéditeur affiché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20188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31" name="Text 29"/>
          <p:cNvSpPr/>
          <p:nvPr/>
        </p:nvSpPr>
        <p:spPr>
          <a:xfrm>
            <a:off x="10748776" y="3280283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Email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720188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33" name="Text 31"/>
          <p:cNvSpPr/>
          <p:nvPr/>
        </p:nvSpPr>
        <p:spPr>
          <a:xfrm>
            <a:off x="10748776" y="4061296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Remplir les 5 champs SMTP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720188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35" name="Text 33"/>
          <p:cNvSpPr/>
          <p:nvPr/>
        </p:nvSpPr>
        <p:spPr>
          <a:xfrm>
            <a:off x="10748776" y="4842309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Test » → ✅ ou ❌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720188" y="5547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37" name="Text 35"/>
          <p:cNvSpPr/>
          <p:nvPr/>
        </p:nvSpPr>
        <p:spPr>
          <a:xfrm>
            <a:off x="10748776" y="5623322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»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9720188" y="6290072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9" name="Text 37"/>
          <p:cNvSpPr/>
          <p:nvPr/>
        </p:nvSpPr>
        <p:spPr>
          <a:xfrm>
            <a:off x="9720188" y="6432835"/>
            <a:ext cx="796153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→ Settings → activer «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d'email vocal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».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720188" y="6855656"/>
            <a:ext cx="796153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: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automatique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countdown 3 s.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2" name="Text 40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SMTP —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33 / 58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ENVOYER UN EMAIL PAR LA VOIX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84561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9/19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Parler.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Confirmer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Envoyer.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DE COMMANDE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08759"/>
            <a:ext cx="7237689" cy="8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i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r>
              <a:rPr lang="en-US" sz="255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Envoie un email </a:t>
            </a:r>
            <a:r>
              <a:rPr lang="en-US" sz="2550" i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Jean pour confirmer la réunion de demain à 14h. »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38163" y="4255331"/>
            <a:ext cx="702688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569544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645744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Parler — Lamu détecte le marqueur email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5350557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5426757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bleu « Email prêt à envoyer »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6131570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6207770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À · Sujet · Corps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163" y="69125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866751" y="6988783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auto (3 s) ou manuel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436546" y="2711165"/>
            <a:ext cx="9525" cy="65043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Shape 17"/>
          <p:cNvSpPr/>
          <p:nvPr/>
        </p:nvSpPr>
        <p:spPr>
          <a:xfrm>
            <a:off x="9017533" y="2711165"/>
            <a:ext cx="8432304" cy="2776128"/>
          </a:xfrm>
          <a:prstGeom prst="roundRect">
            <a:avLst>
              <a:gd name="adj" fmla="val 4803"/>
            </a:avLst>
          </a:prstGeom>
          <a:solidFill>
            <a:srgbClr val="DFD4BA"/>
          </a:solidFill>
          <a:ln w="7144">
            <a:solidFill>
              <a:srgbClr val="4A7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4677" y="2718308"/>
            <a:ext cx="8418016" cy="419026"/>
          </a:xfrm>
          <a:prstGeom prst="rect">
            <a:avLst/>
          </a:prstGeom>
          <a:solidFill>
            <a:srgbClr val="4A78D6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024677" y="3130190"/>
            <a:ext cx="8418016" cy="9525"/>
          </a:xfrm>
          <a:prstGeom prst="rect">
            <a:avLst/>
          </a:prstGeom>
          <a:solidFill>
            <a:srgbClr val="4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9177040" y="2792090"/>
            <a:ext cx="282595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B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prêt à envoyer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369778" y="2792090"/>
            <a:ext cx="19967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envoi dans 2s…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3277" y="3401653"/>
            <a:ext cx="8381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29503" y="3365934"/>
            <a:ext cx="7297129" cy="339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 Dupont </a:t>
            </a:r>
            <a:r>
              <a:rPr lang="en-US" sz="18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jean@example.com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53277" y="3836640"/>
            <a:ext cx="8381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SUJET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29503" y="3800921"/>
            <a:ext cx="7297129" cy="339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réunion de demain — 14h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53277" y="4300203"/>
            <a:ext cx="8381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29503" y="4235909"/>
            <a:ext cx="729712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Jean, je confirme notre réunion de demain à 14h…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253277" y="4715880"/>
            <a:ext cx="79608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Shape 29"/>
          <p:cNvSpPr/>
          <p:nvPr/>
        </p:nvSpPr>
        <p:spPr>
          <a:xfrm>
            <a:off x="9253277" y="4858643"/>
            <a:ext cx="1241115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3771" y="4922937"/>
            <a:ext cx="103632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08692" y="4858643"/>
            <a:ext cx="2612938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49186" y="4922937"/>
            <a:ext cx="24103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Annuler countdown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Text 34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VOIX → EMAIL —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34 / 58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2844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 &amp; SYNCHRONISATION OUTLOOK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10/19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contacts,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trouvables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la voix.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52258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OUTLOOK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27846"/>
            <a:ext cx="5225834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Automatique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838163" y="3707271"/>
            <a:ext cx="50736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1104863" y="3888209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installé &amp; configuré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368180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Outlook Contacts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4848151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via PowerShell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863" y="5328121"/>
            <a:ext cx="495913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dans la base locale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254688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6607076" y="2768315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 MANUEL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07076" y="3127846"/>
            <a:ext cx="522594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Contact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6607076" y="3707271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6433721" y="3888209"/>
            <a:ext cx="5323292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 (optionnel)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(optionnel)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23713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12376100" y="2768315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76100" y="3127846"/>
            <a:ext cx="522594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Fuzzy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12376100" y="3707271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12202745" y="3888209"/>
            <a:ext cx="5323292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Tolérante aux fautes de frappe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dans le champ « À »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 : nom, email, entreprise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CONTACTS 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35 / 58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90622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PREP — PRÉPARER UN ENTRETIEN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11/19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S'entraîner, être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noté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recommencer.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163" y="3664632"/>
            <a:ext cx="197502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Text 7"/>
          <p:cNvSpPr/>
          <p:nvPr/>
        </p:nvSpPr>
        <p:spPr>
          <a:xfrm>
            <a:off x="1028663" y="3242109"/>
            <a:ext cx="1670224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3186" y="3664632"/>
            <a:ext cx="645716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3003686" y="3242109"/>
            <a:ext cx="6269884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· Technical · System Design · Coding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4231221"/>
            <a:ext cx="197502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663" y="3805126"/>
            <a:ext cx="167022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Rôle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13186" y="4231221"/>
            <a:ext cx="645716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3003686" y="3805126"/>
            <a:ext cx="626988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· PM · Data Scientist · Designer · Other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163" y="4797809"/>
            <a:ext cx="197502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663" y="4371715"/>
            <a:ext cx="167022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813186" y="4797809"/>
            <a:ext cx="645716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3003686" y="4371715"/>
            <a:ext cx="626988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5 · 7 · 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163" y="5364398"/>
            <a:ext cx="197502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8663" y="4938303"/>
            <a:ext cx="167022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813186" y="5364398"/>
            <a:ext cx="645716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3003686" y="4938303"/>
            <a:ext cx="6269884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Écrite ou parlée (Record answer)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41855" y="2711165"/>
            <a:ext cx="9525" cy="65043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2843" y="2711165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PAR RÉPONSE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22843" y="3204083"/>
            <a:ext cx="2227957" cy="1358652"/>
          </a:xfrm>
          <a:prstGeom prst="roundRect">
            <a:avLst>
              <a:gd name="adj" fmla="val 841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63337" y="3382677"/>
            <a:ext cx="194697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63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0563337" y="4119823"/>
            <a:ext cx="19469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822250" y="3204083"/>
            <a:ext cx="2228069" cy="1358652"/>
          </a:xfrm>
          <a:prstGeom prst="roundRect">
            <a:avLst>
              <a:gd name="adj" fmla="val 841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62744" y="3382677"/>
            <a:ext cx="1947081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63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300" dirty="0"/>
          </a:p>
        </p:txBody>
      </p:sp>
      <p:sp>
        <p:nvSpPr>
          <p:cNvPr id="31" name="Text 29"/>
          <p:cNvSpPr/>
          <p:nvPr/>
        </p:nvSpPr>
        <p:spPr>
          <a:xfrm>
            <a:off x="12962744" y="4119823"/>
            <a:ext cx="194708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RELEVANCE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221769" y="3204083"/>
            <a:ext cx="2227957" cy="1358652"/>
          </a:xfrm>
          <a:prstGeom prst="roundRect">
            <a:avLst>
              <a:gd name="adj" fmla="val 841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62262" y="3382677"/>
            <a:ext cx="194697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63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300" dirty="0"/>
          </a:p>
        </p:txBody>
      </p:sp>
      <p:sp>
        <p:nvSpPr>
          <p:cNvPr id="34" name="Text 32"/>
          <p:cNvSpPr/>
          <p:nvPr/>
        </p:nvSpPr>
        <p:spPr>
          <a:xfrm>
            <a:off x="15362262" y="4119823"/>
            <a:ext cx="19469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22843" y="4791335"/>
            <a:ext cx="702699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2843" y="4934099"/>
            <a:ext cx="723780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feedback texte IA ·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(vert) ·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(ambre)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8" name="Text 3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INTERVIEW PREP 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36 / 58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8856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&amp; LETTRE DE MOTIVATION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12/19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offre, un profil,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livrables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38163" y="2749339"/>
            <a:ext cx="7677187" cy="4728493"/>
          </a:xfrm>
          <a:prstGeom prst="roundRect">
            <a:avLst>
              <a:gd name="adj" fmla="val 282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0032" y="3061208"/>
            <a:ext cx="72650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0032" y="3420740"/>
            <a:ext cx="7265052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du poste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150032" y="4155988"/>
            <a:ext cx="726505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l'offre d'emploi telle quelle.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50032" y="4731283"/>
            <a:ext cx="7053449" cy="1523963"/>
          </a:xfrm>
          <a:prstGeom prst="roundRect">
            <a:avLst>
              <a:gd name="adj" fmla="val 5000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03774" y="4890827"/>
            <a:ext cx="6945964" cy="12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d'emploi…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77759" y="4381351"/>
            <a:ext cx="100879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8623846" y="5581501"/>
            <a:ext cx="111650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GÉNÉRER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72650" y="2749339"/>
            <a:ext cx="7677187" cy="4728493"/>
          </a:xfrm>
          <a:prstGeom prst="roundRect">
            <a:avLst>
              <a:gd name="adj" fmla="val 282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84519" y="3061208"/>
            <a:ext cx="72650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84519" y="3420740"/>
            <a:ext cx="7265052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profil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0084519" y="4155988"/>
            <a:ext cx="726505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Expérience, compétences, formation.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084519" y="4731283"/>
            <a:ext cx="7053449" cy="1523963"/>
          </a:xfrm>
          <a:prstGeom prst="roundRect">
            <a:avLst>
              <a:gd name="adj" fmla="val 5000"/>
            </a:avLst>
          </a:prstGeom>
          <a:ln w="7144">
            <a:solidFill>
              <a:srgbClr val="C9BEA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138261" y="4890827"/>
            <a:ext cx="6945964" cy="12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background…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163" y="7782558"/>
            <a:ext cx="8191537" cy="1432992"/>
          </a:xfrm>
          <a:prstGeom prst="roundRect">
            <a:avLst>
              <a:gd name="adj" fmla="val 7976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3907" y="7961151"/>
            <a:ext cx="795165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3907" y="8282620"/>
            <a:ext cx="7951651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CV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bullet points professionnels · Copy · Download .md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258300" y="7782558"/>
            <a:ext cx="8191537" cy="1432992"/>
          </a:xfrm>
          <a:prstGeom prst="roundRect">
            <a:avLst>
              <a:gd name="adj" fmla="val 7976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4044" y="7961151"/>
            <a:ext cx="795165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94044" y="8282620"/>
            <a:ext cx="7951651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Lettre de motivation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3-4 paragraphes · FR / EN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CV GENERATOR 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37 / 58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5748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HISTORIQUE DES SESSIONS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13/19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Retrouver une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réunion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revoir un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entretien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ONGLET — MEETINGS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46933"/>
            <a:ext cx="796142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Résumés sauvegardés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3920244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1104863" y="4120158"/>
            <a:ext cx="7694724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 tous les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Meeting_*.md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KB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621560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+ date par entrée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5101530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→ résumé complet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863" y="5581501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↻ pour recharger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ONGLET — INTERVIEWS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20188" y="3146933"/>
            <a:ext cx="796153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passées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9720188" y="3920244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9546833" y="4120158"/>
            <a:ext cx="7979204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Stockées en localStorage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global · durée · nb de questions · type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→ détails &amp; feedback 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SESSIONS 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38 / 58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04107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CALENDRIER GOOGLE CALENDAR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14/19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widget qui sait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avec qui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23768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→ widget Calendar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Connect Google Calendar »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617824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Google — lecture seule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436546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7533" y="2749339"/>
            <a:ext cx="8432304" cy="2676674"/>
          </a:xfrm>
          <a:prstGeom prst="roundRect">
            <a:avLst>
              <a:gd name="adj" fmla="val 4982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24677" y="3168365"/>
            <a:ext cx="84180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177040" y="2801689"/>
            <a:ext cx="258499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📅 Google Calendar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81325" y="2830264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Aujourd'hui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15103" y="3365934"/>
            <a:ext cx="8037165" cy="864617"/>
          </a:xfrm>
          <a:prstGeom prst="roundRect">
            <a:avLst>
              <a:gd name="adj" fmla="val 11016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4609" y="3666083"/>
            <a:ext cx="8381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69810" y="3487378"/>
            <a:ext cx="5753315" cy="339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Standup équipe produit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69810" y="3789090"/>
            <a:ext cx="5753315" cy="3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 · Léo · Sami +2 more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8829" y="3601789"/>
            <a:ext cx="1103933" cy="392906"/>
          </a:xfrm>
          <a:prstGeom prst="roundRect">
            <a:avLst>
              <a:gd name="adj" fmla="val 50000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29322" y="3666083"/>
            <a:ext cx="89914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18m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5103" y="4363827"/>
            <a:ext cx="8037165" cy="864617"/>
          </a:xfrm>
          <a:prstGeom prst="roundRect">
            <a:avLst>
              <a:gd name="adj" fmla="val 11016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4609" y="4663976"/>
            <a:ext cx="83812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69810" y="4485270"/>
            <a:ext cx="5329422" cy="339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client — Acme Corp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69810" y="4786982"/>
            <a:ext cx="5329422" cy="3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 Dupont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577282" y="4599682"/>
            <a:ext cx="1515480" cy="392906"/>
          </a:xfrm>
          <a:prstGeom prst="roundRect">
            <a:avLst>
              <a:gd name="adj" fmla="val 50000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17775" y="4663976"/>
            <a:ext cx="131069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tard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CALENDRIER 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39 / 58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90622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PROMPTS — PROMPTS PERSONNALISÉS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15/19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propres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personnalités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8510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61308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Create New »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6612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42321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· zone de texte du prompt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4713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23333"/>
            <a:ext cx="6901978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bouton ✨ AI Generate — décrire en quelques mots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844257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920457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Save »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GÉRER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20188" y="318510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0748776" y="3261308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— clic → ✓ checkmark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20188" y="3966121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10748776" y="4042321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— menu ⋯ → modifier → Save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720188" y="474713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0748776" y="4823333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— menu ⋯ → confirmer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720188" y="552814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0748776" y="5604346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— barre de recherche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720188" y="6232922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9720188" y="6356710"/>
            <a:ext cx="796153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«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Lamu Prompts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en bas — prompts pré-construits prêts à l'emploi.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SYSTEM PROMPTS —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40 / 58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6422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RÉGLAGES GÉNÉRAUX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16/19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Huit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réglages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un seul écran.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38163" y="3219487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" name="Text 6"/>
          <p:cNvSpPr/>
          <p:nvPr/>
        </p:nvSpPr>
        <p:spPr>
          <a:xfrm>
            <a:off x="1028663" y="2844515"/>
            <a:ext cx="5399448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50248" y="3219487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6640748" y="2844515"/>
            <a:ext cx="10948577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163" y="3786076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663" y="3359981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50248" y="3786076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" name="Text 12"/>
          <p:cNvSpPr/>
          <p:nvPr/>
        </p:nvSpPr>
        <p:spPr>
          <a:xfrm>
            <a:off x="6640748" y="3359981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texte — taper votre nom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163" y="4352665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1028663" y="3926570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Thème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50248" y="4352665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6640748" y="3926570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· Dark · System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163" y="4919253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663" y="4493158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50248" y="4919253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6640748" y="4493158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déroulant — 50+ langues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163" y="5485842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663" y="5059747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automatique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50248" y="5485842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6640748" y="5059747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« Autostart Lamu at login »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38163" y="6052431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663" y="5626336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 application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50248" y="6052431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6640748" y="5626336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— afficher / masquer dans la barre des tâches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8163" y="6619019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663" y="6192924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 top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50248" y="6619019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4" name="Text 32"/>
          <p:cNvSpPr/>
          <p:nvPr/>
        </p:nvSpPr>
        <p:spPr>
          <a:xfrm>
            <a:off x="6640748" y="6192924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— fenêtre toujours au-dessus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8163" y="7185608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663" y="6759513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conversations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450248" y="7185608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8" name="Text 36"/>
          <p:cNvSpPr/>
          <p:nvPr/>
        </p:nvSpPr>
        <p:spPr>
          <a:xfrm>
            <a:off x="6640748" y="6759513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— synchronise l'historique avec le backend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38163" y="7752197"/>
            <a:ext cx="561208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0" name="Text 38"/>
          <p:cNvSpPr/>
          <p:nvPr/>
        </p:nvSpPr>
        <p:spPr>
          <a:xfrm>
            <a:off x="1028663" y="7326102"/>
            <a:ext cx="5399448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les chats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450248" y="7752197"/>
            <a:ext cx="1099958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2" name="Text 40"/>
          <p:cNvSpPr/>
          <p:nvPr/>
        </p:nvSpPr>
        <p:spPr>
          <a:xfrm>
            <a:off x="6640748" y="7326102"/>
            <a:ext cx="1094857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— efface tout l'historique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4" name="Text 42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RÉGLAGES 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41 / 58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75078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RACCOURCIS CLAVIER — PERSONNALISATION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17/19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raccourcis, à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façon.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868515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Shortcuts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la combinaison actuelle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ShortcutRecorder s'active (cadre bleu)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38163" y="5547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866751" y="5623322"/>
            <a:ext cx="7625712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Appuyer sur la nouvelle combinaison — enregistré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841855" y="2749339"/>
            <a:ext cx="9525" cy="50487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2843" y="2749339"/>
            <a:ext cx="72378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CURSEUR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22843" y="3146933"/>
            <a:ext cx="723780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Selection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22843" y="3684054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pour les démos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22843" y="4194497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normal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422843" y="4704941"/>
            <a:ext cx="7237804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FF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adaptatif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838163" y="8102798"/>
            <a:ext cx="16611674" cy="1112751"/>
          </a:xfrm>
          <a:prstGeom prst="roundRect">
            <a:avLst>
              <a:gd name="adj" fmla="val 10272"/>
            </a:avLst>
          </a:prstGeom>
          <a:ln w="7144">
            <a:solidFill>
              <a:srgbClr val="FF5C2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111969" y="8300368"/>
            <a:ext cx="1654598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11969" y="8640812"/>
            <a:ext cx="16545983" cy="41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complet des raccourcis est en annexe — voir §47.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SHORTCUTS 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42 / 58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HISTORIQUE DES CONVERSATIONS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18/19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retrouvable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807915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163" y="3204083"/>
            <a:ext cx="78438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Text 7"/>
          <p:cNvSpPr/>
          <p:nvPr/>
        </p:nvSpPr>
        <p:spPr>
          <a:xfrm>
            <a:off x="1104863" y="3385021"/>
            <a:ext cx="781245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groupées par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(Aujourd'hui, Hier…)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863" y="3864992"/>
            <a:ext cx="781245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· nb de messages · timestamp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344963"/>
            <a:ext cx="781245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en haut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4824933"/>
            <a:ext cx="781245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→ détail complet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863" y="5304904"/>
            <a:ext cx="7812453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 poubelle → suppression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39200" y="2768315"/>
            <a:ext cx="9525" cy="644723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5888" y="2768315"/>
            <a:ext cx="807926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UNE CONVERSATION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5888" y="3204083"/>
            <a:ext cx="78439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872588" y="3385021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utilisateur + IA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72588" y="3864992"/>
            <a:ext cx="7812568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joints — 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ChatFiles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72588" y="4366394"/>
            <a:ext cx="7812568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— miniatures (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ChatScreenshot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72588" y="4867796"/>
            <a:ext cx="7812568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— lecteur intégré (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ChatAudio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72588" y="5369198"/>
            <a:ext cx="781256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Continuer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conversation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CHATS 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43 / 58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5748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ACTIVITÉ &amp; STATISTIQUES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3650" y="609563"/>
            <a:ext cx="2797673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III · 19/19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Voir ce que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l'IA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27958"/>
            <a:ext cx="796142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KB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3901269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1104863" y="4101182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posée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581153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utilisées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63" y="5061124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similarité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863" y="5541094"/>
            <a:ext cx="76947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groupée (Today, Yesterday…)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8163" y="6116389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63" y="6259153"/>
            <a:ext cx="796142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: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All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PRINCIPAL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20188" y="3127958"/>
            <a:ext cx="796153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jours d'usage</a:t>
            </a:r>
            <a:endParaRPr lang="en-US" sz="4500" dirty="0"/>
          </a:p>
        </p:txBody>
      </p:sp>
      <p:sp>
        <p:nvSpPr>
          <p:cNvPr id="19" name="Shape 17"/>
          <p:cNvSpPr/>
          <p:nvPr/>
        </p:nvSpPr>
        <p:spPr>
          <a:xfrm>
            <a:off x="9720188" y="3901269"/>
            <a:ext cx="772964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546833" y="4101182"/>
            <a:ext cx="7979204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 d'utilisation 30 jours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consommés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requêtes / jour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de la licence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ACTIVITY 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44 / 58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157" y="609563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9174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§38 — §43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3360465"/>
            <a:ext cx="8319554" cy="3604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36000" i="1" kern="0" spc="-14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36000" dirty="0"/>
          </a:p>
        </p:txBody>
      </p:sp>
      <p:sp>
        <p:nvSpPr>
          <p:cNvPr id="7" name="Text 5"/>
          <p:cNvSpPr/>
          <p:nvPr/>
        </p:nvSpPr>
        <p:spPr>
          <a:xfrm>
            <a:off x="9372600" y="2945123"/>
            <a:ext cx="831955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QUATRIÈME PARTIE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600" y="3514167"/>
            <a:ext cx="8319554" cy="1379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0" kern="0" spc="-2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r>
              <a:rPr lang="en-US" sz="12000" kern="0" spc="-2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372600" y="5159908"/>
            <a:ext cx="831955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Lamu dans le navigateur, sans installer l'application. Du login OTP au paiement Mobile Money.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72600" y="6498915"/>
            <a:ext cx="80772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6813128"/>
            <a:ext cx="831955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INSCRIPTION · CHAT IA · KB EN LIGNE · FREE TRIAL · PRICING · RÉCUPÉRATION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9413118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0088" y="9413118"/>
            <a:ext cx="141569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WEB APP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45 / 58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59534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 — S'INSCRIRE ET SE CONNECTER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1/6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Email, puis un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à six chiffres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796142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ÉTAPE 1 — EMAIL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66751" y="3280283"/>
            <a:ext cx="6901978" cy="44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sur </a:t>
            </a:r>
            <a:r>
              <a:rPr lang="en-US" sz="22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/webapp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63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866751" y="4061296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email ✉️ + nom (option)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38163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66751" y="4842309"/>
            <a:ext cx="6901978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Recevoir un code par email »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38163" y="5509059"/>
            <a:ext cx="772953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63" y="5651822"/>
            <a:ext cx="796142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avez une licence ? Entrez le même email — votre plan est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automatiquement activé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39200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188" y="2749339"/>
            <a:ext cx="796153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ÉTAPE 2 — CODE OTP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20188" y="320408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0748776" y="3280283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votre boîte mail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20188" y="398509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10748776" y="4061296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 les 6 chiffres 🛡️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720188" y="476610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0748776" y="4842309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automatique au 6ème chiffre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720188" y="554712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0748776" y="5623322"/>
            <a:ext cx="6902093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Renvoi possible après 60 s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WEB LOGIN 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46 / 58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50738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 — UTILISER LE CHAT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2/6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L'app, dans un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onglet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68838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163" y="3146933"/>
            <a:ext cx="668331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Text 7"/>
          <p:cNvSpPr/>
          <p:nvPr/>
        </p:nvSpPr>
        <p:spPr>
          <a:xfrm>
            <a:off x="1104863" y="3327871"/>
            <a:ext cx="661711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863" y="3807842"/>
            <a:ext cx="661711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Conversations · Knowledge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287813"/>
            <a:ext cx="6617112" cy="7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SOURCES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Website, PDF, Create file, GitHub, All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826" y="5194957"/>
            <a:ext cx="18595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CHATS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863" y="5626819"/>
            <a:ext cx="661711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Settings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8163" y="6202114"/>
            <a:ext cx="668331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63" y="6325902"/>
            <a:ext cx="688381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163" y="6685434"/>
            <a:ext cx="68838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· Badge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plan · barre X/20 · Upgrade · déconnexion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92976" y="2711165"/>
            <a:ext cx="9356861" cy="5005313"/>
          </a:xfrm>
          <a:prstGeom prst="roundRect">
            <a:avLst>
              <a:gd name="adj" fmla="val 2664"/>
            </a:avLst>
          </a:prstGeom>
          <a:solidFill>
            <a:srgbClr val="DFD4BA"/>
          </a:solidFill>
          <a:ln w="7144">
            <a:solidFill>
              <a:srgbClr val="C9B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0120" y="3130190"/>
            <a:ext cx="93425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8252482" y="2792090"/>
            <a:ext cx="10364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AI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51471" y="2792090"/>
            <a:ext cx="18595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· 14/20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30054" y="2792090"/>
            <a:ext cx="103647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2958" y="3365934"/>
            <a:ext cx="5331135" cy="1020887"/>
          </a:xfrm>
          <a:prstGeom prst="roundRect">
            <a:avLst>
              <a:gd name="adj" fmla="val 13062"/>
            </a:avLst>
          </a:prstGeom>
          <a:solidFill>
            <a:srgbClr val="FF5C2A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073458" y="3499284"/>
            <a:ext cx="5110069" cy="79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configurer le serveur SMTP ?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8328720" y="4520096"/>
            <a:ext cx="6219751" cy="1412342"/>
          </a:xfrm>
          <a:prstGeom prst="roundRect">
            <a:avLst>
              <a:gd name="adj" fmla="val 9442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6363" y="4660590"/>
            <a:ext cx="6011056" cy="1169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dans Dashboard → Email, remplir les 5 champs (Host, Port, User, Password, From), puis « Test »…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328720" y="6711665"/>
            <a:ext cx="8885374" cy="769069"/>
          </a:xfrm>
          <a:prstGeom prst="roundRect">
            <a:avLst>
              <a:gd name="adj" fmla="val 17339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6289" y="6960468"/>
            <a:ext cx="81024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Lamu… (Enter ↵ to send)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6507085" y="6871171"/>
            <a:ext cx="509439" cy="450056"/>
          </a:xfrm>
          <a:prstGeom prst="ellipse">
            <a:avLst/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7579" y="6935465"/>
            <a:ext cx="30465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Text 29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WEB CHAT 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47 / 58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73030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 — KNOWLEDGE 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3/6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sources en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natif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522583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838163" y="3797015"/>
            <a:ext cx="5225834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838163" y="4551350"/>
            <a:ext cx="50736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4732288"/>
            <a:ext cx="522583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Connect Website URL » — coller l'URL → « Add to knowledge base ».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254688" y="2749339"/>
            <a:ext cx="9525" cy="409002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6607076" y="2749339"/>
            <a:ext cx="522594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6607076" y="3797015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PDF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6607076" y="4551350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6607076" y="4732288"/>
            <a:ext cx="522594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TXT, MD, CSV, DOCX. « Click to browse » → choisir → ajouter.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23713" y="2749339"/>
            <a:ext cx="9525" cy="409002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12376100" y="2749339"/>
            <a:ext cx="522594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12376100" y="3797015"/>
            <a:ext cx="5225949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kern="0" spc="-4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Text</a:t>
            </a:r>
            <a:endParaRPr lang="en-US" sz="4500" dirty="0"/>
          </a:p>
        </p:txBody>
      </p:sp>
      <p:sp>
        <p:nvSpPr>
          <p:cNvPr id="19" name="Shape 17"/>
          <p:cNvSpPr/>
          <p:nvPr/>
        </p:nvSpPr>
        <p:spPr>
          <a:xfrm>
            <a:off x="12376100" y="4551350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12376100" y="4732288"/>
            <a:ext cx="522594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document + contenu. Idéal pour les notes ou un FAQ.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8163" y="7144085"/>
            <a:ext cx="16611674" cy="1149474"/>
          </a:xfrm>
          <a:prstGeom prst="roundRect">
            <a:avLst>
              <a:gd name="adj" fmla="val 11601"/>
            </a:avLst>
          </a:prstGeom>
          <a:ln w="7144">
            <a:solidFill>
              <a:srgbClr val="FF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69" y="7586663"/>
            <a:ext cx="336757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NOTION · ETC.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0063" y="7341654"/>
            <a:ext cx="12942947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autres intégrations affichent : </a:t>
            </a:r>
            <a:r>
              <a:rPr lang="en-US" sz="2250" i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{Source} integration is available in the Lamu desktop app. »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bouton </a:t>
            </a:r>
            <a:r>
              <a:rPr lang="en-US" sz="22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Lamu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838163" y="8522159"/>
            <a:ext cx="1711002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sémantique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web — sidebar →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champ « Search documents, URLs, keywords… » · résultats avec extrait,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chat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WEB KB 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48 / 58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10855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 — FREE TRIAL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4/6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Vingt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zéro carte.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53841" y="4060552"/>
            <a:ext cx="5790105" cy="238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22500" kern="0" spc="-675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500" dirty="0"/>
          </a:p>
        </p:txBody>
      </p:sp>
      <p:sp>
        <p:nvSpPr>
          <p:cNvPr id="8" name="Text 6"/>
          <p:cNvSpPr/>
          <p:nvPr/>
        </p:nvSpPr>
        <p:spPr>
          <a:xfrm>
            <a:off x="753841" y="6479828"/>
            <a:ext cx="579010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GRATUITS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62410" y="6972746"/>
            <a:ext cx="337285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753841" y="7210834"/>
            <a:ext cx="579010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carte bancaire requise · barre devient ambre à ≤ 5 messages.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12112" y="4329447"/>
            <a:ext cx="1013285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2112" y="5282915"/>
            <a:ext cx="403923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7802612" y="4860392"/>
            <a:ext cx="3779409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IA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651345" y="5282915"/>
            <a:ext cx="579849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41845" y="4860392"/>
            <a:ext cx="5591447" cy="327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maximum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12112" y="5849503"/>
            <a:ext cx="403923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7802612" y="5423408"/>
            <a:ext cx="3779409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KB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651345" y="5849503"/>
            <a:ext cx="579849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11841845" y="5423408"/>
            <a:ext cx="559144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maximum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12112" y="6416092"/>
            <a:ext cx="403923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7802612" y="5989997"/>
            <a:ext cx="3779409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autorisées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651345" y="6416092"/>
            <a:ext cx="579849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Text 21"/>
          <p:cNvSpPr/>
          <p:nvPr/>
        </p:nvSpPr>
        <p:spPr>
          <a:xfrm>
            <a:off x="11841845" y="5989997"/>
            <a:ext cx="559144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· PDF · Texte uniquement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12112" y="6982681"/>
            <a:ext cx="403923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7802612" y="6556586"/>
            <a:ext cx="3779409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651345" y="6982681"/>
            <a:ext cx="5798493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Text 25"/>
          <p:cNvSpPr/>
          <p:nvPr/>
        </p:nvSpPr>
        <p:spPr>
          <a:xfrm>
            <a:off x="11841845" y="6556586"/>
            <a:ext cx="5591447" cy="33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Bloquées (plan payant)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12112" y="7164846"/>
            <a:ext cx="98377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9" name="Text 27"/>
          <p:cNvSpPr/>
          <p:nvPr/>
        </p:nvSpPr>
        <p:spPr>
          <a:xfrm>
            <a:off x="7612112" y="7288634"/>
            <a:ext cx="1013285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compteur est lié à l'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déconnexion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réinitialise pas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Text 29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FREE TRIAL 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49 / 58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507388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ACHETER UNE LICENCE — PRICING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5/6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Money, en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étapes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11165"/>
            <a:ext cx="826069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ÉTAPE 1/2 — INFORMATIONS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163" y="3108759"/>
            <a:ext cx="802008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" name="Text 7"/>
          <p:cNvSpPr/>
          <p:nvPr/>
        </p:nvSpPr>
        <p:spPr>
          <a:xfrm>
            <a:off x="1104863" y="3251522"/>
            <a:ext cx="79939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complet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863" y="3731493"/>
            <a:ext cx="79939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email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(licence livrée ici)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863" y="4211464"/>
            <a:ext cx="79939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Continuer → »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38163" y="4786759"/>
            <a:ext cx="802008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5024847"/>
            <a:ext cx="826069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ÉTAPE 2/2 — PAIEMENT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163" y="5422441"/>
            <a:ext cx="802008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" name="Text 13"/>
          <p:cNvSpPr/>
          <p:nvPr/>
        </p:nvSpPr>
        <p:spPr>
          <a:xfrm>
            <a:off x="664808" y="5565204"/>
            <a:ext cx="8269642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 Mobile Money 📞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sur téléphone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Spinner « Vérification en cours… »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Paiement confirmé — clé affichée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29750" y="2711165"/>
            <a:ext cx="8020087" cy="6504384"/>
          </a:xfrm>
          <a:prstGeom prst="roundRect">
            <a:avLst>
              <a:gd name="adj" fmla="val 2050"/>
            </a:avLst>
          </a:prstGeom>
          <a:solidFill>
            <a:srgbClr val="FF5C2A">
              <a:alpha val="6000"/>
            </a:srgbClr>
          </a:solidFill>
          <a:ln w="7144">
            <a:solidFill>
              <a:srgbClr val="FF5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9794" y="3061208"/>
            <a:ext cx="753960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SUCCÈS — CLÉ LIVRÉE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79794" y="3458803"/>
            <a:ext cx="753960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licence est prête.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779794" y="4148398"/>
            <a:ext cx="7320000" cy="742950"/>
          </a:xfrm>
          <a:prstGeom prst="roundRect">
            <a:avLst>
              <a:gd name="adj" fmla="val 12821"/>
            </a:avLst>
          </a:prstGeom>
          <a:ln w="7144">
            <a:solidFill>
              <a:srgbClr val="FF5C2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015538" y="4326992"/>
            <a:ext cx="70681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LMU-XK4Q-7F8R-9V2N-3M1P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779794" y="5119948"/>
            <a:ext cx="732000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9779794" y="5358036"/>
            <a:ext cx="75396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: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65494" y="5780856"/>
            <a:ext cx="7510500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buSzPct val="100000"/>
              <a:buFont typeface="+mj-lt"/>
              <a:buAutoNum type="arabicPeriod"/>
              <a:tabLst>
                <a:tab pos="342900" algn="l"/>
              </a:tabLst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Lamu</a:t>
            </a:r>
            <a:endParaRPr lang="en-US" sz="1800" dirty="0"/>
          </a:p>
          <a:p>
            <a:pPr marL="342900" indent="-342900" algn="l"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→ Licence</a:t>
            </a:r>
            <a:endParaRPr lang="en-US" sz="1800" dirty="0"/>
          </a:p>
          <a:p>
            <a:pPr marL="342900" indent="-342900" algn="l"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la clé</a:t>
            </a:r>
            <a:endParaRPr lang="en-US" sz="1800" dirty="0"/>
          </a:p>
          <a:p>
            <a:pPr marL="342900" indent="-342900" algn="l">
              <a:buSzPct val="100000"/>
              <a:buFont typeface="+mj-lt"/>
              <a:buAutoNum type="arabicPeriod" startAt="4"/>
              <a:tabLst>
                <a:tab pos="342900" algn="l"/>
              </a:tabLst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Activer »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Text 2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PRICING 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50 / 58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4351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RÉCUPÉRER UNE LICENCE PERDUE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86273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IV · 6/6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clé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égarée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jamais perdue.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5068044"/>
            <a:ext cx="7420491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/recover</a:t>
            </a:r>
            <a:endParaRPr lang="en-US" sz="18000" dirty="0"/>
          </a:p>
        </p:txBody>
      </p:sp>
      <p:sp>
        <p:nvSpPr>
          <p:cNvPr id="8" name="Text 6"/>
          <p:cNvSpPr/>
          <p:nvPr/>
        </p:nvSpPr>
        <p:spPr>
          <a:xfrm>
            <a:off x="8804449" y="4383472"/>
            <a:ext cx="890475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PROCÉDURE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04449" y="483821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833037" y="4914416"/>
            <a:ext cx="7845304" cy="44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sur la page </a:t>
            </a:r>
            <a:r>
              <a:rPr lang="en-US" sz="22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/recover </a:t>
            </a: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site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804449" y="5619229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833037" y="5695429"/>
            <a:ext cx="784530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Entrer l'email d'achat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804449" y="6400242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833037" y="6476442"/>
            <a:ext cx="784530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Rechercher » — toutes les licences associées s'affichent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804449" y="718125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9833037" y="7257455"/>
            <a:ext cx="7845304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renvoi par email de la clé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RÉCUPÉRATION 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51 / 58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88357" y="609563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91743" y="609563"/>
            <a:ext cx="14342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§44 — §47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3480681"/>
            <a:ext cx="8319554" cy="390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39000" i="1" kern="0" spc="-156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39000" dirty="0"/>
          </a:p>
        </p:txBody>
      </p:sp>
      <p:sp>
        <p:nvSpPr>
          <p:cNvPr id="7" name="Text 5"/>
          <p:cNvSpPr/>
          <p:nvPr/>
        </p:nvSpPr>
        <p:spPr>
          <a:xfrm>
            <a:off x="9372600" y="1642951"/>
            <a:ext cx="831955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CINQUIÈME PARTIE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600" y="2211995"/>
            <a:ext cx="8319554" cy="4061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000" kern="0" spc="-2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Admin, sécurité, support</a:t>
            </a:r>
            <a:r>
              <a:rPr lang="en-US" sz="12000" kern="0" spc="-2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372600" y="6539768"/>
            <a:ext cx="8319554" cy="14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se passe en coulisses, comment vos données sont protégées, et que faire quand quelque chose ne marche pas.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72600" y="8338765"/>
            <a:ext cx="80772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8652979"/>
            <a:ext cx="831955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ADMIN · INVISIBILITÉ ÉCRAN · DÉPANNAGE · RACCOURCIS COMPLETS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163" y="9753116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63" y="9950686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37026" y="9950686"/>
            <a:ext cx="1431223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ADMIN &amp; SUPPORT 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940832" y="9950686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52 / 58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233976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ADMIN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 · 1/4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salle des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commandes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406439"/>
            <a:ext cx="17110025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: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http://serveur:3001/admin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login + mot de passe.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63" y="3231766"/>
            <a:ext cx="391690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163" y="3629360"/>
            <a:ext cx="38028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664808" y="3772123"/>
            <a:ext cx="4052374" cy="230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plan, statut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liée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/ désactiver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Transférer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869582" y="3231766"/>
            <a:ext cx="9525" cy="59837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5107670" y="3231766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07670" y="362936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" name="Text 12"/>
          <p:cNvSpPr/>
          <p:nvPr/>
        </p:nvSpPr>
        <p:spPr>
          <a:xfrm>
            <a:off x="4934315" y="3772123"/>
            <a:ext cx="4052486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· prix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/ modifier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39200" y="3231766"/>
            <a:ext cx="9525" cy="59837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Text 14"/>
          <p:cNvSpPr/>
          <p:nvPr/>
        </p:nvSpPr>
        <p:spPr>
          <a:xfrm>
            <a:off x="9377288" y="3231766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 &amp; IA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77288" y="362936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9203933" y="3772123"/>
            <a:ext cx="4052486" cy="230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SMTP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email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fournisseur IA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par défaut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provider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08819" y="3231766"/>
            <a:ext cx="9525" cy="5983784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Text 18"/>
          <p:cNvSpPr/>
          <p:nvPr/>
        </p:nvSpPr>
        <p:spPr>
          <a:xfrm>
            <a:off x="13646907" y="3231766"/>
            <a:ext cx="391701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646907" y="3629360"/>
            <a:ext cx="380293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473552" y="3772123"/>
            <a:ext cx="4052486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fournisseurs IA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· uptime 24h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incidents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expiration licences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" name="Text 22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ADMIN 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53 / 58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59534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 &amp; INVISIBILITÉ SCREEN SHARE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 · 2/4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données restent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chez vous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49339"/>
            <a:ext cx="522583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INVISIBILITÉ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63" y="3108871"/>
            <a:ext cx="5225834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share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838163" y="3688296"/>
            <a:ext cx="507362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838163" y="3869234"/>
            <a:ext cx="522583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Lamu est automatiquement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partage d'écran.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38163" y="4695899"/>
            <a:ext cx="522583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SetWindowDisplayAffinity (WDA_EXCLUDEFROMCAPTURE)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63" y="5338837"/>
            <a:ext cx="522583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dans Zoom, Teams, Meet, OBS, Discord…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254688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" name="Text 12"/>
          <p:cNvSpPr/>
          <p:nvPr/>
        </p:nvSpPr>
        <p:spPr>
          <a:xfrm>
            <a:off x="6607076" y="2749339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7076" y="3108871"/>
            <a:ext cx="522594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Chiffré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6607076" y="3688296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" name="Text 15"/>
          <p:cNvSpPr/>
          <p:nvPr/>
        </p:nvSpPr>
        <p:spPr>
          <a:xfrm>
            <a:off x="6873776" y="3869234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API dans le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keychain système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73776" y="4349204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en texte clair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873776" y="4829175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en base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locale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23713" y="2749339"/>
            <a:ext cx="9525" cy="6466210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00" y="2749339"/>
            <a:ext cx="522594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76100" y="3108871"/>
            <a:ext cx="5225949" cy="4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50" kern="0" spc="-3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Locales</a:t>
            </a:r>
            <a:endParaRPr lang="en-US" sz="3150" dirty="0"/>
          </a:p>
        </p:txBody>
      </p:sp>
      <p:sp>
        <p:nvSpPr>
          <p:cNvPr id="23" name="Shape 21"/>
          <p:cNvSpPr/>
          <p:nvPr/>
        </p:nvSpPr>
        <p:spPr>
          <a:xfrm>
            <a:off x="12376100" y="3688296"/>
            <a:ext cx="50737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" name="Text 22"/>
          <p:cNvSpPr/>
          <p:nvPr/>
        </p:nvSpPr>
        <p:spPr>
          <a:xfrm>
            <a:off x="12642800" y="3869234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serveur </a:t>
            </a:r>
            <a:r>
              <a:rPr lang="en-US" sz="195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optionnelle </a:t>
            </a: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(toggle)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642800" y="4349204"/>
            <a:ext cx="49592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envoi sans consentement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642800" y="4829175"/>
            <a:ext cx="4959249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: </a:t>
            </a: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debug.log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SÉCURITÉ 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54 / 58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35748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RÉSOLUTION DE PROBLÈMES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 · 3/4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 ne marche pas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38163" y="2711165"/>
            <a:ext cx="5384825" cy="3247727"/>
          </a:xfrm>
          <a:prstGeom prst="roundRect">
            <a:avLst>
              <a:gd name="adj" fmla="val 3519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3907" y="2946908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3907" y="3287353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L'IA ne répond pas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73907" y="3750915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1340607" y="3893679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Space — vérifier la clé API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40607" y="4373649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sélectionné ?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40607" y="4853620"/>
            <a:ext cx="4794037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40607" y="5355022"/>
            <a:ext cx="4794037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debug.log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451588" y="2711165"/>
            <a:ext cx="5384825" cy="3247727"/>
          </a:xfrm>
          <a:prstGeom prst="roundRect">
            <a:avLst>
              <a:gd name="adj" fmla="val 3519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7331" y="2946908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87331" y="3287353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 muet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87331" y="3750915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3976" y="3893679"/>
            <a:ext cx="5162892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Audio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micro sélectionné 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OS : micro autorisé 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un autre périphérique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65012" y="2711165"/>
            <a:ext cx="5384825" cy="3247727"/>
          </a:xfrm>
          <a:prstGeom prst="roundRect">
            <a:avLst>
              <a:gd name="adj" fmla="val 3519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00756" y="2946908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00756" y="3287353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système vide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300756" y="3750915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" name="Text 22"/>
          <p:cNvSpPr/>
          <p:nvPr/>
        </p:nvSpPr>
        <p:spPr>
          <a:xfrm>
            <a:off x="12567456" y="3893679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périphérique de sortie ?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567456" y="4373649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 de réunion émet du son ?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567456" y="4853620"/>
            <a:ext cx="4794037" cy="46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→ Start avec </a:t>
            </a:r>
            <a:r>
              <a:rPr lang="en-US" sz="1800" dirty="0">
                <a:solidFill>
                  <a:srgbClr val="0C0C0C"/>
                </a:solidFill>
                <a:highlight>
                  <a:srgbClr val="DFD4B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Ctrl+Shift+M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38163" y="6187492"/>
            <a:ext cx="5384825" cy="3226296"/>
          </a:xfrm>
          <a:prstGeom prst="roundRect">
            <a:avLst>
              <a:gd name="adj" fmla="val 354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3907" y="6423236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3907" y="6763680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sans résultats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073907" y="7227243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1" name="Text 29"/>
          <p:cNvSpPr/>
          <p:nvPr/>
        </p:nvSpPr>
        <p:spPr>
          <a:xfrm>
            <a:off x="900552" y="7370006"/>
            <a:ext cx="5162892" cy="1824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bien ingérés 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configuré 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Embed missing »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Élargir la requête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451588" y="6187492"/>
            <a:ext cx="5384825" cy="3226296"/>
          </a:xfrm>
          <a:prstGeom prst="roundRect">
            <a:avLst>
              <a:gd name="adj" fmla="val 354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7331" y="6423236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87331" y="6763680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Licence refusée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6687331" y="7227243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Text 34"/>
          <p:cNvSpPr/>
          <p:nvPr/>
        </p:nvSpPr>
        <p:spPr>
          <a:xfrm>
            <a:off x="6954031" y="7370006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internet ?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954031" y="7849977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connexion email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6954031" y="8329947"/>
            <a:ext cx="4794037" cy="406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</a:t>
            </a:r>
            <a:r>
              <a:rPr lang="en-US" sz="1950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/recover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954031" y="8831349"/>
            <a:ext cx="479403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Contacter le support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2065012" y="6187492"/>
            <a:ext cx="5384825" cy="3226296"/>
          </a:xfrm>
          <a:prstGeom prst="roundRect">
            <a:avLst>
              <a:gd name="adj" fmla="val 3543"/>
            </a:avLst>
          </a:prstGeom>
          <a:ln w="7144">
            <a:solidFill>
              <a:srgbClr val="C9BE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00756" y="6423236"/>
            <a:ext cx="506073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SYMPTÔME F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300756" y="6763680"/>
            <a:ext cx="5060737" cy="368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50" kern="0" spc="-25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Webapp KO</a:t>
            </a:r>
            <a:endParaRPr lang="en-US" sz="2550" dirty="0"/>
          </a:p>
        </p:txBody>
      </p:sp>
      <p:sp>
        <p:nvSpPr>
          <p:cNvPr id="43" name="Shape 41"/>
          <p:cNvSpPr/>
          <p:nvPr/>
        </p:nvSpPr>
        <p:spPr>
          <a:xfrm>
            <a:off x="12300756" y="7227243"/>
            <a:ext cx="4913337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4" name="Text 42"/>
          <p:cNvSpPr/>
          <p:nvPr/>
        </p:nvSpPr>
        <p:spPr>
          <a:xfrm>
            <a:off x="12127401" y="7370006"/>
            <a:ext cx="5162892" cy="134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lancé (port 3000) ?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Vider le cache</a:t>
            </a:r>
            <a:endParaRPr lang="en-US" sz="19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F12 — chercher erreur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838163" y="9413788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6" name="Text 44"/>
          <p:cNvSpPr/>
          <p:nvPr/>
        </p:nvSpPr>
        <p:spPr>
          <a:xfrm>
            <a:off x="838163" y="961135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71149" y="961135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DÉPANNAGE —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940832" y="961135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55 / 58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3798" y="609563"/>
            <a:ext cx="559534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RACCOURCIS CLAVIER — TABLEAU COMPLET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37185" y="609563"/>
            <a:ext cx="218885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 V · 4/4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376176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Quatorze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gestes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apprendre.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38163" y="2971800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" name="Text 6"/>
          <p:cNvSpPr/>
          <p:nvPr/>
        </p:nvSpPr>
        <p:spPr>
          <a:xfrm>
            <a:off x="971513" y="2615878"/>
            <a:ext cx="2357024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5468" y="2971800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" name="Text 8"/>
          <p:cNvSpPr/>
          <p:nvPr/>
        </p:nvSpPr>
        <p:spPr>
          <a:xfrm>
            <a:off x="3518818" y="2615878"/>
            <a:ext cx="2813799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/ LINUX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76243" y="2971800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" name="Text 10"/>
          <p:cNvSpPr/>
          <p:nvPr/>
        </p:nvSpPr>
        <p:spPr>
          <a:xfrm>
            <a:off x="6509593" y="2615878"/>
            <a:ext cx="2387836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163" y="3552676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13" y="3074194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micro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85468" y="3552676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8743" y="3077728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17" name="Shape 15"/>
          <p:cNvSpPr/>
          <p:nvPr/>
        </p:nvSpPr>
        <p:spPr>
          <a:xfrm>
            <a:off x="3518743" y="3425317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Shape 16"/>
          <p:cNvSpPr/>
          <p:nvPr/>
        </p:nvSpPr>
        <p:spPr>
          <a:xfrm>
            <a:off x="3518743" y="3077728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" name="Shape 17"/>
          <p:cNvSpPr/>
          <p:nvPr/>
        </p:nvSpPr>
        <p:spPr>
          <a:xfrm>
            <a:off x="3518743" y="3077728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00675" y="3077728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" name="Text 19"/>
          <p:cNvSpPr/>
          <p:nvPr/>
        </p:nvSpPr>
        <p:spPr>
          <a:xfrm>
            <a:off x="3640187" y="3122972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76243" y="3552676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09519" y="3077728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9519" y="3432460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9519" y="3077728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6" name="Shape 24"/>
          <p:cNvSpPr/>
          <p:nvPr/>
        </p:nvSpPr>
        <p:spPr>
          <a:xfrm>
            <a:off x="6509519" y="3077728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3311" y="3077728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8" name="Text 26"/>
          <p:cNvSpPr/>
          <p:nvPr/>
        </p:nvSpPr>
        <p:spPr>
          <a:xfrm>
            <a:off x="6630963" y="3122972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8163" y="4133552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13" y="3655070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système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385468" y="4133552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2" name="Shape 30"/>
          <p:cNvSpPr/>
          <p:nvPr/>
        </p:nvSpPr>
        <p:spPr>
          <a:xfrm>
            <a:off x="3518743" y="3658605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8743" y="4006193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8743" y="3658605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8743" y="3658605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6" name="Shape 34"/>
          <p:cNvSpPr/>
          <p:nvPr/>
        </p:nvSpPr>
        <p:spPr>
          <a:xfrm>
            <a:off x="5400675" y="3658605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7" name="Text 35"/>
          <p:cNvSpPr/>
          <p:nvPr/>
        </p:nvSpPr>
        <p:spPr>
          <a:xfrm>
            <a:off x="3640187" y="3703848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Ctrl+Shift+M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76243" y="4133552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9" name="Shape 37"/>
          <p:cNvSpPr/>
          <p:nvPr/>
        </p:nvSpPr>
        <p:spPr>
          <a:xfrm>
            <a:off x="6509519" y="3658605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40" name="Shape 38"/>
          <p:cNvSpPr/>
          <p:nvPr/>
        </p:nvSpPr>
        <p:spPr>
          <a:xfrm>
            <a:off x="6509519" y="4013336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1" name="Shape 39"/>
          <p:cNvSpPr/>
          <p:nvPr/>
        </p:nvSpPr>
        <p:spPr>
          <a:xfrm>
            <a:off x="6509519" y="3658605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2" name="Shape 40"/>
          <p:cNvSpPr/>
          <p:nvPr/>
        </p:nvSpPr>
        <p:spPr>
          <a:xfrm>
            <a:off x="6509519" y="3658605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3" name="Shape 41"/>
          <p:cNvSpPr/>
          <p:nvPr/>
        </p:nvSpPr>
        <p:spPr>
          <a:xfrm>
            <a:off x="8093311" y="3658605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4" name="Text 42"/>
          <p:cNvSpPr/>
          <p:nvPr/>
        </p:nvSpPr>
        <p:spPr>
          <a:xfrm>
            <a:off x="6630963" y="3703848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⌘+Shift+M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38163" y="4714429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6" name="Text 44"/>
          <p:cNvSpPr/>
          <p:nvPr/>
        </p:nvSpPr>
        <p:spPr>
          <a:xfrm>
            <a:off x="971513" y="4235946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385468" y="4714429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48" name="Shape 46"/>
          <p:cNvSpPr/>
          <p:nvPr/>
        </p:nvSpPr>
        <p:spPr>
          <a:xfrm>
            <a:off x="3518743" y="4239481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49" name="Shape 47"/>
          <p:cNvSpPr/>
          <p:nvPr/>
        </p:nvSpPr>
        <p:spPr>
          <a:xfrm>
            <a:off x="3518743" y="4587069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0" name="Shape 48"/>
          <p:cNvSpPr/>
          <p:nvPr/>
        </p:nvSpPr>
        <p:spPr>
          <a:xfrm>
            <a:off x="3518743" y="4239481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1" name="Shape 49"/>
          <p:cNvSpPr/>
          <p:nvPr/>
        </p:nvSpPr>
        <p:spPr>
          <a:xfrm>
            <a:off x="3518743" y="4239481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2" name="Shape 50"/>
          <p:cNvSpPr/>
          <p:nvPr/>
        </p:nvSpPr>
        <p:spPr>
          <a:xfrm>
            <a:off x="5400675" y="4239481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3" name="Text 51"/>
          <p:cNvSpPr/>
          <p:nvPr/>
        </p:nvSpPr>
        <p:spPr>
          <a:xfrm>
            <a:off x="3640187" y="4284725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376243" y="4714429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5" name="Shape 53"/>
          <p:cNvSpPr/>
          <p:nvPr/>
        </p:nvSpPr>
        <p:spPr>
          <a:xfrm>
            <a:off x="6509519" y="4239481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56" name="Shape 54"/>
          <p:cNvSpPr/>
          <p:nvPr/>
        </p:nvSpPr>
        <p:spPr>
          <a:xfrm>
            <a:off x="6509519" y="4594213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7" name="Shape 55"/>
          <p:cNvSpPr/>
          <p:nvPr/>
        </p:nvSpPr>
        <p:spPr>
          <a:xfrm>
            <a:off x="6509519" y="4239481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8" name="Shape 56"/>
          <p:cNvSpPr/>
          <p:nvPr/>
        </p:nvSpPr>
        <p:spPr>
          <a:xfrm>
            <a:off x="6509519" y="423948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59" name="Shape 57"/>
          <p:cNvSpPr/>
          <p:nvPr/>
        </p:nvSpPr>
        <p:spPr>
          <a:xfrm>
            <a:off x="8093311" y="423948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0" name="Text 58"/>
          <p:cNvSpPr/>
          <p:nvPr/>
        </p:nvSpPr>
        <p:spPr>
          <a:xfrm>
            <a:off x="6630963" y="4284725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38163" y="5295305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2" name="Text 60"/>
          <p:cNvSpPr/>
          <p:nvPr/>
        </p:nvSpPr>
        <p:spPr>
          <a:xfrm>
            <a:off x="971513" y="4816822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385468" y="5295305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4" name="Shape 62"/>
          <p:cNvSpPr/>
          <p:nvPr/>
        </p:nvSpPr>
        <p:spPr>
          <a:xfrm>
            <a:off x="3518743" y="4820357"/>
            <a:ext cx="1065981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65" name="Shape 63"/>
          <p:cNvSpPr/>
          <p:nvPr/>
        </p:nvSpPr>
        <p:spPr>
          <a:xfrm>
            <a:off x="3518743" y="5167945"/>
            <a:ext cx="1065981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6" name="Shape 64"/>
          <p:cNvSpPr/>
          <p:nvPr/>
        </p:nvSpPr>
        <p:spPr>
          <a:xfrm>
            <a:off x="3518743" y="4820357"/>
            <a:ext cx="106598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7" name="Shape 65"/>
          <p:cNvSpPr/>
          <p:nvPr/>
        </p:nvSpPr>
        <p:spPr>
          <a:xfrm>
            <a:off x="3518743" y="4820357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8" name="Shape 66"/>
          <p:cNvSpPr/>
          <p:nvPr/>
        </p:nvSpPr>
        <p:spPr>
          <a:xfrm>
            <a:off x="4577581" y="4820357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69" name="Text 67"/>
          <p:cNvSpPr/>
          <p:nvPr/>
        </p:nvSpPr>
        <p:spPr>
          <a:xfrm>
            <a:off x="3640187" y="4865601"/>
            <a:ext cx="899294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Ctrl+\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376243" y="5295305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1" name="Shape 69"/>
          <p:cNvSpPr/>
          <p:nvPr/>
        </p:nvSpPr>
        <p:spPr>
          <a:xfrm>
            <a:off x="6509519" y="4820357"/>
            <a:ext cx="767842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72" name="Shape 70"/>
          <p:cNvSpPr/>
          <p:nvPr/>
        </p:nvSpPr>
        <p:spPr>
          <a:xfrm>
            <a:off x="6509519" y="5175089"/>
            <a:ext cx="767842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3" name="Shape 71"/>
          <p:cNvSpPr/>
          <p:nvPr/>
        </p:nvSpPr>
        <p:spPr>
          <a:xfrm>
            <a:off x="6509519" y="4820357"/>
            <a:ext cx="767842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4" name="Shape 72"/>
          <p:cNvSpPr/>
          <p:nvPr/>
        </p:nvSpPr>
        <p:spPr>
          <a:xfrm>
            <a:off x="6509519" y="4820357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5" name="Shape 73"/>
          <p:cNvSpPr/>
          <p:nvPr/>
        </p:nvSpPr>
        <p:spPr>
          <a:xfrm>
            <a:off x="7270217" y="4820357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6" name="Text 74"/>
          <p:cNvSpPr/>
          <p:nvPr/>
        </p:nvSpPr>
        <p:spPr>
          <a:xfrm>
            <a:off x="6630963" y="4865601"/>
            <a:ext cx="601154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⌘+\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838163" y="5876181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78" name="Text 76"/>
          <p:cNvSpPr/>
          <p:nvPr/>
        </p:nvSpPr>
        <p:spPr>
          <a:xfrm>
            <a:off x="971513" y="5397698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Space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385468" y="5876181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0" name="Shape 78"/>
          <p:cNvSpPr/>
          <p:nvPr/>
        </p:nvSpPr>
        <p:spPr>
          <a:xfrm>
            <a:off x="3518743" y="5401233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81" name="Shape 79"/>
          <p:cNvSpPr/>
          <p:nvPr/>
        </p:nvSpPr>
        <p:spPr>
          <a:xfrm>
            <a:off x="3518743" y="5748821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2" name="Shape 80"/>
          <p:cNvSpPr/>
          <p:nvPr/>
        </p:nvSpPr>
        <p:spPr>
          <a:xfrm>
            <a:off x="3518743" y="5401233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3" name="Shape 81"/>
          <p:cNvSpPr/>
          <p:nvPr/>
        </p:nvSpPr>
        <p:spPr>
          <a:xfrm>
            <a:off x="3518743" y="5401233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4" name="Shape 82"/>
          <p:cNvSpPr/>
          <p:nvPr/>
        </p:nvSpPr>
        <p:spPr>
          <a:xfrm>
            <a:off x="5400675" y="5401233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5" name="Text 83"/>
          <p:cNvSpPr/>
          <p:nvPr/>
        </p:nvSpPr>
        <p:spPr>
          <a:xfrm>
            <a:off x="3640187" y="5446477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Ctrl+Shift+D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6376243" y="5876181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7" name="Shape 85"/>
          <p:cNvSpPr/>
          <p:nvPr/>
        </p:nvSpPr>
        <p:spPr>
          <a:xfrm>
            <a:off x="6509519" y="5401233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88" name="Shape 86"/>
          <p:cNvSpPr/>
          <p:nvPr/>
        </p:nvSpPr>
        <p:spPr>
          <a:xfrm>
            <a:off x="6509519" y="5755965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89" name="Shape 87"/>
          <p:cNvSpPr/>
          <p:nvPr/>
        </p:nvSpPr>
        <p:spPr>
          <a:xfrm>
            <a:off x="6509519" y="5401233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0" name="Shape 88"/>
          <p:cNvSpPr/>
          <p:nvPr/>
        </p:nvSpPr>
        <p:spPr>
          <a:xfrm>
            <a:off x="6509519" y="5401233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1" name="Shape 89"/>
          <p:cNvSpPr/>
          <p:nvPr/>
        </p:nvSpPr>
        <p:spPr>
          <a:xfrm>
            <a:off x="8093311" y="5401233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2" name="Text 90"/>
          <p:cNvSpPr/>
          <p:nvPr/>
        </p:nvSpPr>
        <p:spPr>
          <a:xfrm>
            <a:off x="6630963" y="5446477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⌘+Shift+D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838163" y="6457057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4" name="Text 92"/>
          <p:cNvSpPr/>
          <p:nvPr/>
        </p:nvSpPr>
        <p:spPr>
          <a:xfrm>
            <a:off x="971513" y="5978575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texte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3385468" y="6457057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6" name="Shape 94"/>
          <p:cNvSpPr/>
          <p:nvPr/>
        </p:nvSpPr>
        <p:spPr>
          <a:xfrm>
            <a:off x="3518743" y="5982109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97" name="Shape 95"/>
          <p:cNvSpPr/>
          <p:nvPr/>
        </p:nvSpPr>
        <p:spPr>
          <a:xfrm>
            <a:off x="3518743" y="6329697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8" name="Shape 96"/>
          <p:cNvSpPr/>
          <p:nvPr/>
        </p:nvSpPr>
        <p:spPr>
          <a:xfrm>
            <a:off x="3518743" y="5982109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99" name="Shape 97"/>
          <p:cNvSpPr/>
          <p:nvPr/>
        </p:nvSpPr>
        <p:spPr>
          <a:xfrm>
            <a:off x="3518743" y="5982109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0" name="Shape 98"/>
          <p:cNvSpPr/>
          <p:nvPr/>
        </p:nvSpPr>
        <p:spPr>
          <a:xfrm>
            <a:off x="5400675" y="5982109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1" name="Text 99"/>
          <p:cNvSpPr/>
          <p:nvPr/>
        </p:nvSpPr>
        <p:spPr>
          <a:xfrm>
            <a:off x="3640187" y="6027353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Ctrl+Shift+I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6376243" y="6457057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509519" y="5982109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509519" y="6336841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509519" y="5982109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09519" y="598210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093311" y="598210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08" name="Text 106"/>
          <p:cNvSpPr/>
          <p:nvPr/>
        </p:nvSpPr>
        <p:spPr>
          <a:xfrm>
            <a:off x="6630963" y="6027353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⌘+Shift+I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838163" y="7037933"/>
            <a:ext cx="254730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0" name="Text 108"/>
          <p:cNvSpPr/>
          <p:nvPr/>
        </p:nvSpPr>
        <p:spPr>
          <a:xfrm>
            <a:off x="971513" y="6559451"/>
            <a:ext cx="2357024" cy="42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vocal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3385468" y="7037933"/>
            <a:ext cx="299077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518743" y="6562985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518743" y="6910574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518743" y="6562985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518743" y="6562985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400675" y="6562985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7" name="Text 115"/>
          <p:cNvSpPr/>
          <p:nvPr/>
        </p:nvSpPr>
        <p:spPr>
          <a:xfrm>
            <a:off x="3640187" y="6608229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Ctrl+Shift+A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6376243" y="7037933"/>
            <a:ext cx="257721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509519" y="6562985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509519" y="6917717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509519" y="6562985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509519" y="6562985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093311" y="6562985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4" name="Text 122"/>
          <p:cNvSpPr/>
          <p:nvPr/>
        </p:nvSpPr>
        <p:spPr>
          <a:xfrm>
            <a:off x="6630963" y="6608229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⌘+Shift+A</a:t>
            </a:r>
            <a:endParaRPr lang="en-US" sz="1800" dirty="0"/>
          </a:p>
        </p:txBody>
      </p:sp>
      <p:sp>
        <p:nvSpPr>
          <p:cNvPr id="125" name="Shape 123"/>
          <p:cNvSpPr/>
          <p:nvPr/>
        </p:nvSpPr>
        <p:spPr>
          <a:xfrm>
            <a:off x="9334426" y="2971800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6" name="Text 124"/>
          <p:cNvSpPr/>
          <p:nvPr/>
        </p:nvSpPr>
        <p:spPr>
          <a:xfrm>
            <a:off x="9467776" y="2615878"/>
            <a:ext cx="2576501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800" dirty="0"/>
          </a:p>
        </p:txBody>
      </p:sp>
      <p:sp>
        <p:nvSpPr>
          <p:cNvPr id="127" name="Shape 125"/>
          <p:cNvSpPr/>
          <p:nvPr/>
        </p:nvSpPr>
        <p:spPr>
          <a:xfrm>
            <a:off x="12094815" y="2971800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28" name="Text 126"/>
          <p:cNvSpPr/>
          <p:nvPr/>
        </p:nvSpPr>
        <p:spPr>
          <a:xfrm>
            <a:off x="12228165" y="2615878"/>
            <a:ext cx="2695955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/ LINUX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4971179" y="2971800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0" name="Text 128"/>
          <p:cNvSpPr/>
          <p:nvPr/>
        </p:nvSpPr>
        <p:spPr>
          <a:xfrm>
            <a:off x="15104529" y="2615878"/>
            <a:ext cx="2288158" cy="298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9334426" y="3553681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2" name="Text 130"/>
          <p:cNvSpPr/>
          <p:nvPr/>
        </p:nvSpPr>
        <p:spPr>
          <a:xfrm>
            <a:off x="9467776" y="3074194"/>
            <a:ext cx="2576501" cy="422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réponse</a:t>
            </a:r>
            <a:endParaRPr lang="en-US" sz="1800" dirty="0"/>
          </a:p>
        </p:txBody>
      </p:sp>
      <p:sp>
        <p:nvSpPr>
          <p:cNvPr id="133" name="Shape 131"/>
          <p:cNvSpPr/>
          <p:nvPr/>
        </p:nvSpPr>
        <p:spPr>
          <a:xfrm>
            <a:off x="12094815" y="3553681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2228091" y="3077728"/>
            <a:ext cx="1889075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2228091" y="3425317"/>
            <a:ext cx="188907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2228091" y="3077728"/>
            <a:ext cx="188907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2228091" y="3077728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4110022" y="3077728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39" name="Text 137"/>
          <p:cNvSpPr/>
          <p:nvPr/>
        </p:nvSpPr>
        <p:spPr>
          <a:xfrm>
            <a:off x="12349535" y="3122972"/>
            <a:ext cx="1722388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Ctrl+Shift+C</a:t>
            </a:r>
            <a:endParaRPr lang="en-US" sz="1800" dirty="0"/>
          </a:p>
        </p:txBody>
      </p:sp>
      <p:sp>
        <p:nvSpPr>
          <p:cNvPr id="140" name="Shape 138"/>
          <p:cNvSpPr/>
          <p:nvPr/>
        </p:nvSpPr>
        <p:spPr>
          <a:xfrm>
            <a:off x="14971179" y="3553681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5104455" y="3077728"/>
            <a:ext cx="1590935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5104455" y="3432460"/>
            <a:ext cx="159093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5104455" y="3077728"/>
            <a:ext cx="159093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5104455" y="3077728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6688246" y="3077728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6" name="Text 144"/>
          <p:cNvSpPr/>
          <p:nvPr/>
        </p:nvSpPr>
        <p:spPr>
          <a:xfrm>
            <a:off x="15225899" y="3122972"/>
            <a:ext cx="1424248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⌘+Shift+C</a:t>
            </a:r>
            <a:endParaRPr lang="en-US" sz="1800" dirty="0"/>
          </a:p>
        </p:txBody>
      </p:sp>
      <p:sp>
        <p:nvSpPr>
          <p:cNvPr id="147" name="Shape 145"/>
          <p:cNvSpPr/>
          <p:nvPr/>
        </p:nvSpPr>
        <p:spPr>
          <a:xfrm>
            <a:off x="9334426" y="4135562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48" name="Text 146"/>
          <p:cNvSpPr/>
          <p:nvPr/>
        </p:nvSpPr>
        <p:spPr>
          <a:xfrm>
            <a:off x="9467776" y="3656075"/>
            <a:ext cx="2576501" cy="422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Déplacer fenêtre</a:t>
            </a:r>
            <a:endParaRPr lang="en-US" sz="1800" dirty="0"/>
          </a:p>
        </p:txBody>
      </p:sp>
      <p:sp>
        <p:nvSpPr>
          <p:cNvPr id="149" name="Shape 147"/>
          <p:cNvSpPr/>
          <p:nvPr/>
        </p:nvSpPr>
        <p:spPr>
          <a:xfrm>
            <a:off x="12094815" y="4135562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2228091" y="3659609"/>
            <a:ext cx="1477528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2228091" y="4007197"/>
            <a:ext cx="1477528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2228091" y="3659609"/>
            <a:ext cx="147752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2228091" y="3659609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3698475" y="3659609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5" name="Text 153"/>
          <p:cNvSpPr/>
          <p:nvPr/>
        </p:nvSpPr>
        <p:spPr>
          <a:xfrm>
            <a:off x="12349535" y="3704853"/>
            <a:ext cx="1310841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Ctrl+↑↓←→</a:t>
            </a:r>
            <a:endParaRPr lang="en-US" sz="1800" dirty="0"/>
          </a:p>
        </p:txBody>
      </p:sp>
      <p:sp>
        <p:nvSpPr>
          <p:cNvPr id="156" name="Shape 154"/>
          <p:cNvSpPr/>
          <p:nvPr/>
        </p:nvSpPr>
        <p:spPr>
          <a:xfrm>
            <a:off x="14971179" y="4135562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5104455" y="3659609"/>
            <a:ext cx="1179388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5104455" y="4014341"/>
            <a:ext cx="1179388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5104455" y="3659609"/>
            <a:ext cx="117938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5104455" y="365960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6276700" y="365960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2" name="Text 160"/>
          <p:cNvSpPr/>
          <p:nvPr/>
        </p:nvSpPr>
        <p:spPr>
          <a:xfrm>
            <a:off x="15225899" y="3704853"/>
            <a:ext cx="1012701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⌘+↑↓←→</a:t>
            </a:r>
            <a:endParaRPr lang="en-US" sz="1800" dirty="0"/>
          </a:p>
        </p:txBody>
      </p:sp>
      <p:sp>
        <p:nvSpPr>
          <p:cNvPr id="163" name="Shape 161"/>
          <p:cNvSpPr/>
          <p:nvPr/>
        </p:nvSpPr>
        <p:spPr>
          <a:xfrm>
            <a:off x="9334426" y="4717442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4" name="Text 162"/>
          <p:cNvSpPr/>
          <p:nvPr/>
        </p:nvSpPr>
        <p:spPr>
          <a:xfrm>
            <a:off x="9467776" y="4237955"/>
            <a:ext cx="2576501" cy="422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Approuver</a:t>
            </a:r>
            <a:endParaRPr lang="en-US" sz="1800" dirty="0"/>
          </a:p>
        </p:txBody>
      </p:sp>
      <p:sp>
        <p:nvSpPr>
          <p:cNvPr id="165" name="Shape 163"/>
          <p:cNvSpPr/>
          <p:nvPr/>
        </p:nvSpPr>
        <p:spPr>
          <a:xfrm>
            <a:off x="12094815" y="4717442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2228091" y="4241490"/>
            <a:ext cx="1058056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2228091" y="4596222"/>
            <a:ext cx="1058056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2228091" y="4241490"/>
            <a:ext cx="105805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2228091" y="4241490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3279003" y="4241490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1" name="Text 169"/>
          <p:cNvSpPr/>
          <p:nvPr/>
        </p:nvSpPr>
        <p:spPr>
          <a:xfrm>
            <a:off x="12349535" y="4286734"/>
            <a:ext cx="891369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Ctrl+↵</a:t>
            </a:r>
            <a:endParaRPr lang="en-US" sz="1800" dirty="0"/>
          </a:p>
        </p:txBody>
      </p:sp>
      <p:sp>
        <p:nvSpPr>
          <p:cNvPr id="172" name="Shape 170"/>
          <p:cNvSpPr/>
          <p:nvPr/>
        </p:nvSpPr>
        <p:spPr>
          <a:xfrm>
            <a:off x="14971179" y="4717442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5104455" y="4241490"/>
            <a:ext cx="759916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5104455" y="4596222"/>
            <a:ext cx="759916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5104455" y="4241490"/>
            <a:ext cx="7599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5104455" y="4241490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5857227" y="4241490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78" name="Text 176"/>
          <p:cNvSpPr/>
          <p:nvPr/>
        </p:nvSpPr>
        <p:spPr>
          <a:xfrm>
            <a:off x="15225899" y="4286734"/>
            <a:ext cx="593229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⌘+↵</a:t>
            </a:r>
            <a:endParaRPr lang="en-US" sz="1800" dirty="0"/>
          </a:p>
        </p:txBody>
      </p:sp>
      <p:sp>
        <p:nvSpPr>
          <p:cNvPr id="179" name="Shape 177"/>
          <p:cNvSpPr/>
          <p:nvPr/>
        </p:nvSpPr>
        <p:spPr>
          <a:xfrm>
            <a:off x="9334426" y="5299323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0" name="Text 178"/>
          <p:cNvSpPr/>
          <p:nvPr/>
        </p:nvSpPr>
        <p:spPr>
          <a:xfrm>
            <a:off x="9467776" y="4819836"/>
            <a:ext cx="2576501" cy="422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 enr.</a:t>
            </a:r>
            <a:endParaRPr lang="en-US" sz="1800" dirty="0"/>
          </a:p>
        </p:txBody>
      </p:sp>
      <p:sp>
        <p:nvSpPr>
          <p:cNvPr id="181" name="Shape 179"/>
          <p:cNvSpPr/>
          <p:nvPr/>
        </p:nvSpPr>
        <p:spPr>
          <a:xfrm>
            <a:off x="12094815" y="5299323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2228091" y="4823371"/>
            <a:ext cx="1065981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2228091" y="5170959"/>
            <a:ext cx="1065981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2228091" y="4823371"/>
            <a:ext cx="1065981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2228091" y="4823371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3286929" y="4823371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7" name="Text 185"/>
          <p:cNvSpPr/>
          <p:nvPr/>
        </p:nvSpPr>
        <p:spPr>
          <a:xfrm>
            <a:off x="12349535" y="4868614"/>
            <a:ext cx="899294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Espace</a:t>
            </a:r>
            <a:endParaRPr lang="en-US" sz="1800" dirty="0"/>
          </a:p>
        </p:txBody>
      </p:sp>
      <p:sp>
        <p:nvSpPr>
          <p:cNvPr id="188" name="Shape 186"/>
          <p:cNvSpPr/>
          <p:nvPr/>
        </p:nvSpPr>
        <p:spPr>
          <a:xfrm>
            <a:off x="14971179" y="5299323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5104455" y="4823371"/>
            <a:ext cx="372145" cy="383307"/>
          </a:xfrm>
          <a:prstGeom prst="roundRect">
            <a:avLst>
              <a:gd name="adj" fmla="val 20476"/>
            </a:avLst>
          </a:prstGeom>
          <a:solidFill>
            <a:srgbClr val="DFD4B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5104455" y="5178103"/>
            <a:ext cx="37214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5104455" y="4823371"/>
            <a:ext cx="37214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5104455" y="482337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5469456" y="482337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4" name="Text 192"/>
          <p:cNvSpPr/>
          <p:nvPr/>
        </p:nvSpPr>
        <p:spPr>
          <a:xfrm>
            <a:off x="15225899" y="4868614"/>
            <a:ext cx="205457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</a:t>
            </a:r>
            <a:endParaRPr lang="en-US" sz="1800" dirty="0"/>
          </a:p>
        </p:txBody>
      </p:sp>
      <p:sp>
        <p:nvSpPr>
          <p:cNvPr id="195" name="Shape 193"/>
          <p:cNvSpPr/>
          <p:nvPr/>
        </p:nvSpPr>
        <p:spPr>
          <a:xfrm>
            <a:off x="9334426" y="5881204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6" name="Text 194"/>
          <p:cNvSpPr/>
          <p:nvPr/>
        </p:nvSpPr>
        <p:spPr>
          <a:xfrm>
            <a:off x="9467776" y="5401717"/>
            <a:ext cx="2576501" cy="422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Envoyer enr.</a:t>
            </a:r>
            <a:endParaRPr lang="en-US" sz="1800" dirty="0"/>
          </a:p>
        </p:txBody>
      </p:sp>
      <p:sp>
        <p:nvSpPr>
          <p:cNvPr id="197" name="Shape 195"/>
          <p:cNvSpPr/>
          <p:nvPr/>
        </p:nvSpPr>
        <p:spPr>
          <a:xfrm>
            <a:off x="12094815" y="5881204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2228091" y="5405251"/>
            <a:ext cx="372145" cy="383307"/>
          </a:xfrm>
          <a:prstGeom prst="roundRect">
            <a:avLst>
              <a:gd name="adj" fmla="val 20476"/>
            </a:avLst>
          </a:prstGeom>
          <a:solidFill>
            <a:srgbClr val="DFD4BA"/>
          </a:solidFill>
          <a:ln/>
        </p:spPr>
      </p:sp>
      <p:sp>
        <p:nvSpPr>
          <p:cNvPr id="199" name="Shape 197"/>
          <p:cNvSpPr/>
          <p:nvPr/>
        </p:nvSpPr>
        <p:spPr>
          <a:xfrm>
            <a:off x="12228091" y="5759983"/>
            <a:ext cx="37214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2228091" y="5405251"/>
            <a:ext cx="37214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2228091" y="540525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2593092" y="540525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3" name="Text 201"/>
          <p:cNvSpPr/>
          <p:nvPr/>
        </p:nvSpPr>
        <p:spPr>
          <a:xfrm>
            <a:off x="12349535" y="5450495"/>
            <a:ext cx="205457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</a:t>
            </a:r>
            <a:endParaRPr lang="en-US" sz="1800" dirty="0"/>
          </a:p>
        </p:txBody>
      </p:sp>
      <p:sp>
        <p:nvSpPr>
          <p:cNvPr id="204" name="Shape 202"/>
          <p:cNvSpPr/>
          <p:nvPr/>
        </p:nvSpPr>
        <p:spPr>
          <a:xfrm>
            <a:off x="14971179" y="5881204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5104455" y="5405251"/>
            <a:ext cx="372145" cy="383307"/>
          </a:xfrm>
          <a:prstGeom prst="roundRect">
            <a:avLst>
              <a:gd name="adj" fmla="val 20476"/>
            </a:avLst>
          </a:prstGeom>
          <a:solidFill>
            <a:srgbClr val="DFD4BA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5104455" y="5759983"/>
            <a:ext cx="372145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5104455" y="5405251"/>
            <a:ext cx="372145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5104455" y="540525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5469456" y="5405251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0" name="Text 208"/>
          <p:cNvSpPr/>
          <p:nvPr/>
        </p:nvSpPr>
        <p:spPr>
          <a:xfrm>
            <a:off x="15225899" y="5450495"/>
            <a:ext cx="205457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</a:t>
            </a:r>
            <a:endParaRPr lang="en-US" sz="1800" dirty="0"/>
          </a:p>
        </p:txBody>
      </p:sp>
      <p:sp>
        <p:nvSpPr>
          <p:cNvPr id="211" name="Shape 209"/>
          <p:cNvSpPr/>
          <p:nvPr/>
        </p:nvSpPr>
        <p:spPr>
          <a:xfrm>
            <a:off x="9334426" y="6455941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2" name="Text 210"/>
          <p:cNvSpPr/>
          <p:nvPr/>
        </p:nvSpPr>
        <p:spPr>
          <a:xfrm>
            <a:off x="9467776" y="5983598"/>
            <a:ext cx="2576501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Annuler enr.</a:t>
            </a:r>
            <a:endParaRPr lang="en-US" sz="1800" dirty="0"/>
          </a:p>
        </p:txBody>
      </p:sp>
      <p:sp>
        <p:nvSpPr>
          <p:cNvPr id="213" name="Shape 211"/>
          <p:cNvSpPr/>
          <p:nvPr/>
        </p:nvSpPr>
        <p:spPr>
          <a:xfrm>
            <a:off x="12094815" y="6455941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2228091" y="5987132"/>
            <a:ext cx="928799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2228091" y="6334720"/>
            <a:ext cx="928799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2228091" y="5987132"/>
            <a:ext cx="92879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2228091" y="5987132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8" name="Shape 216"/>
          <p:cNvSpPr/>
          <p:nvPr/>
        </p:nvSpPr>
        <p:spPr>
          <a:xfrm>
            <a:off x="13149746" y="5987132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19" name="Text 217"/>
          <p:cNvSpPr/>
          <p:nvPr/>
        </p:nvSpPr>
        <p:spPr>
          <a:xfrm>
            <a:off x="12349535" y="6032376"/>
            <a:ext cx="762112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Échap</a:t>
            </a:r>
            <a:endParaRPr lang="en-US" sz="1800" dirty="0"/>
          </a:p>
        </p:txBody>
      </p:sp>
      <p:sp>
        <p:nvSpPr>
          <p:cNvPr id="220" name="Shape 218"/>
          <p:cNvSpPr/>
          <p:nvPr/>
        </p:nvSpPr>
        <p:spPr>
          <a:xfrm>
            <a:off x="14971179" y="6455941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5104455" y="5987132"/>
            <a:ext cx="928799" cy="376163"/>
          </a:xfrm>
          <a:prstGeom prst="roundRect">
            <a:avLst>
              <a:gd name="adj" fmla="val 20257"/>
            </a:avLst>
          </a:prstGeom>
          <a:solidFill>
            <a:srgbClr val="DFD4BA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5104455" y="6334720"/>
            <a:ext cx="928799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5104455" y="5987132"/>
            <a:ext cx="928799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5104455" y="5987132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6026110" y="5987132"/>
            <a:ext cx="9525" cy="376163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6" name="Text 224"/>
          <p:cNvSpPr/>
          <p:nvPr/>
        </p:nvSpPr>
        <p:spPr>
          <a:xfrm>
            <a:off x="15225899" y="6032376"/>
            <a:ext cx="762112" cy="302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Échap</a:t>
            </a:r>
            <a:endParaRPr lang="en-US" sz="1800" dirty="0"/>
          </a:p>
        </p:txBody>
      </p:sp>
      <p:sp>
        <p:nvSpPr>
          <p:cNvPr id="227" name="Shape 225"/>
          <p:cNvSpPr/>
          <p:nvPr/>
        </p:nvSpPr>
        <p:spPr>
          <a:xfrm>
            <a:off x="9334426" y="7037933"/>
            <a:ext cx="2760390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28" name="Text 226"/>
          <p:cNvSpPr/>
          <p:nvPr/>
        </p:nvSpPr>
        <p:spPr>
          <a:xfrm>
            <a:off x="9467776" y="6558335"/>
            <a:ext cx="2576501" cy="422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SQL</a:t>
            </a:r>
            <a:endParaRPr lang="en-US" sz="1800" dirty="0"/>
          </a:p>
        </p:txBody>
      </p:sp>
      <p:sp>
        <p:nvSpPr>
          <p:cNvPr id="229" name="Shape 227"/>
          <p:cNvSpPr/>
          <p:nvPr/>
        </p:nvSpPr>
        <p:spPr>
          <a:xfrm>
            <a:off x="12094815" y="7037933"/>
            <a:ext cx="287636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2228091" y="6561869"/>
            <a:ext cx="1058056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2228091" y="6916601"/>
            <a:ext cx="1058056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2228091" y="6561869"/>
            <a:ext cx="105805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2228091" y="656186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3279003" y="656186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5" name="Text 233"/>
          <p:cNvSpPr/>
          <p:nvPr/>
        </p:nvSpPr>
        <p:spPr>
          <a:xfrm>
            <a:off x="12349535" y="6607113"/>
            <a:ext cx="891369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Ctrl+↵</a:t>
            </a:r>
            <a:endParaRPr lang="en-US" sz="1800" dirty="0"/>
          </a:p>
        </p:txBody>
      </p:sp>
      <p:sp>
        <p:nvSpPr>
          <p:cNvPr id="236" name="Shape 234"/>
          <p:cNvSpPr/>
          <p:nvPr/>
        </p:nvSpPr>
        <p:spPr>
          <a:xfrm>
            <a:off x="14971179" y="7037933"/>
            <a:ext cx="2478658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5104455" y="6561869"/>
            <a:ext cx="759916" cy="383307"/>
          </a:xfrm>
          <a:prstGeom prst="roundRect">
            <a:avLst>
              <a:gd name="adj" fmla="val 19880"/>
            </a:avLst>
          </a:prstGeom>
          <a:solidFill>
            <a:srgbClr val="DFD4BA"/>
          </a:solidFill>
          <a:ln/>
        </p:spPr>
      </p:sp>
      <p:sp>
        <p:nvSpPr>
          <p:cNvPr id="238" name="Shape 236"/>
          <p:cNvSpPr/>
          <p:nvPr/>
        </p:nvSpPr>
        <p:spPr>
          <a:xfrm>
            <a:off x="15104455" y="6916601"/>
            <a:ext cx="759916" cy="2857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39" name="Shape 237"/>
          <p:cNvSpPr/>
          <p:nvPr/>
        </p:nvSpPr>
        <p:spPr>
          <a:xfrm>
            <a:off x="15104455" y="6561869"/>
            <a:ext cx="759916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5104455" y="656186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5857227" y="6561869"/>
            <a:ext cx="9525" cy="383307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2" name="Text 240"/>
          <p:cNvSpPr/>
          <p:nvPr/>
        </p:nvSpPr>
        <p:spPr>
          <a:xfrm>
            <a:off x="15225899" y="6607113"/>
            <a:ext cx="593229" cy="309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C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⌘+↵</a:t>
            </a:r>
            <a:endParaRPr lang="en-US" sz="1800" dirty="0"/>
          </a:p>
        </p:txBody>
      </p:sp>
      <p:sp>
        <p:nvSpPr>
          <p:cNvPr id="243" name="Text 241"/>
          <p:cNvSpPr/>
          <p:nvPr/>
        </p:nvSpPr>
        <p:spPr>
          <a:xfrm>
            <a:off x="838163" y="7277249"/>
            <a:ext cx="171100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</a:t>
            </a:r>
            <a:r>
              <a:rPr lang="en-US" sz="1950" b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personnalisables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Dashboard → Shortcuts → cliquer le raccourci → taper la nouvelle combinaison.</a:t>
            </a:r>
            <a:endParaRPr lang="en-US" sz="1950" dirty="0"/>
          </a:p>
        </p:txBody>
      </p:sp>
      <p:sp>
        <p:nvSpPr>
          <p:cNvPr id="244" name="Shape 242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245" name="Text 243"/>
          <p:cNvSpPr/>
          <p:nvPr/>
        </p:nvSpPr>
        <p:spPr>
          <a:xfrm>
            <a:off x="838163" y="9413118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§47</a:t>
            </a:r>
            <a:endParaRPr lang="en-US" sz="1800" dirty="0"/>
          </a:p>
        </p:txBody>
      </p:sp>
      <p:sp>
        <p:nvSpPr>
          <p:cNvPr id="246" name="Text 244"/>
          <p:cNvSpPr/>
          <p:nvPr/>
        </p:nvSpPr>
        <p:spPr>
          <a:xfrm>
            <a:off x="1071149" y="9413118"/>
            <a:ext cx="15089432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RACCOURCIS —</a:t>
            </a:r>
            <a:endParaRPr lang="en-US" sz="1800" dirty="0"/>
          </a:p>
        </p:txBody>
      </p:sp>
      <p:sp>
        <p:nvSpPr>
          <p:cNvPr id="247" name="Text 245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56 / 58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9816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57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6533" y="609563"/>
            <a:ext cx="203794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RÉCAPITULATIF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79091" y="609563"/>
            <a:ext cx="357486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PARCOURS EN 5 LIGNES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63" y="1414351"/>
            <a:ext cx="17110025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téléchargement 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</a:t>
            </a:r>
            <a:r>
              <a:rPr lang="en-US" sz="7200" i="1" kern="0" spc="-108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expertise</a:t>
            </a:r>
            <a:r>
              <a:rPr lang="en-US" sz="7200" i="1" kern="0" spc="-108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38163" y="2768315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866751" y="2844515"/>
            <a:ext cx="16050579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— télécharger, onboarding, fournisseur IA, STT, licence.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163" y="3549328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866751" y="3625528"/>
            <a:ext cx="16050579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— overlay, micro, mode réunion, validation, coaching, résumé, modes.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163" y="4330340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866751" y="4406540"/>
            <a:ext cx="16050579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Maîtriser — KB, intégrations, SQL, email vocal, Interview Prep, CV, sessions.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38163" y="5111353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66751" y="5187553"/>
            <a:ext cx="16050579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— login OTP, chat web, Free Trial 20 messages, paiement Mobile Money.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38163" y="5892366"/>
            <a:ext cx="8381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500" i="1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866751" y="5968566"/>
            <a:ext cx="16050579" cy="41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support — dashboard admin, invisibilité écran, dépannage, raccourcis.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163" y="9413118"/>
            <a:ext cx="2037941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RÉCAPITULATIF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02790" y="9413118"/>
            <a:ext cx="1353515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BACK MATTER 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940832" y="9413118"/>
            <a:ext cx="158520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 57 / 58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63" y="1064307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3" name="Text 1"/>
          <p:cNvSpPr/>
          <p:nvPr/>
        </p:nvSpPr>
        <p:spPr>
          <a:xfrm>
            <a:off x="838163" y="609563"/>
            <a:ext cx="98167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58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6533" y="609563"/>
            <a:ext cx="1283494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COLOPHON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997102" y="609563"/>
            <a:ext cx="528935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5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86500" y="2841873"/>
            <a:ext cx="588645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FIN 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41133" y="3487155"/>
            <a:ext cx="6078222" cy="2049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8000" i="1" kern="0" spc="-540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r>
              <a:rPr lang="en-US" sz="18000" i="1" kern="0" spc="-540" dirty="0">
                <a:solidFill>
                  <a:srgbClr val="FF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0" dirty="0"/>
          </a:p>
        </p:txBody>
      </p:sp>
      <p:sp>
        <p:nvSpPr>
          <p:cNvPr id="8" name="Text 6"/>
          <p:cNvSpPr/>
          <p:nvPr/>
        </p:nvSpPr>
        <p:spPr>
          <a:xfrm>
            <a:off x="4238588" y="5879753"/>
            <a:ext cx="9810712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150" i="1" kern="0" spc="-16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Quarante-sept sections, cinq parties, cinquante-huit pages. Un guide écrit pour ceux qui testent et pour ceux qui s'en servent.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286500" y="7180697"/>
            <a:ext cx="5886450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 LAMU · V2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163" y="9215549"/>
            <a:ext cx="16611674" cy="9525"/>
          </a:xfrm>
          <a:prstGeom prst="rect">
            <a:avLst/>
          </a:prstGeom>
          <a:solidFill>
            <a:srgbClr val="C9BEA7"/>
          </a:solidFill>
          <a:ln/>
        </p:spPr>
      </p:sp>
      <p:sp>
        <p:nvSpPr>
          <p:cNvPr id="11" name="Text 9"/>
          <p:cNvSpPr/>
          <p:nvPr/>
        </p:nvSpPr>
        <p:spPr>
          <a:xfrm>
            <a:off x="838163" y="9413118"/>
            <a:ext cx="1887029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LAMU / GUIDE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51878" y="9413118"/>
            <a:ext cx="13535156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COLOPHON 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89920" y="9413118"/>
            <a:ext cx="1736117" cy="302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MAI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5495</Words>
  <Application>Microsoft Office PowerPoint</Application>
  <PresentationFormat>Custom</PresentationFormat>
  <Paragraphs>1388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joeldy Simon</cp:lastModifiedBy>
  <cp:revision>2</cp:revision>
  <dcterms:created xsi:type="dcterms:W3CDTF">2026-05-27T13:20:47Z</dcterms:created>
  <dcterms:modified xsi:type="dcterms:W3CDTF">2026-05-27T13:21:53Z</dcterms:modified>
</cp:coreProperties>
</file>